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ig Picture" id="{bd306eb7-ffce-d9dc-00a8-bba1fc597279}">
          <p14:sldIdLst>
            <p14:sldId id="256"/>
          </p14:sldIdLst>
        </p14:section>
        <p14:section name="Masken" id="{71d27aaa-d8aa-b061-a4ba-c4c4b08b57a3}">
          <p14:sldIdLst>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Rolle beschreibt abstrakt eine Pflicht, die Stelle bündelt Rollen und ordnet sie in die Hierarchie ein, die Person besetzt genau eine Stelle. Rechtswirksam wird eine Pflicht oder Vollmacht erst durch eine persönliche Übertragung an die Person – mit Annahme, Gültigkeit und Überwachung.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Stammdaten, Stellenbeschreibung und Befugnisse der Stelle (links); Hierarchie, Stelleninhaber, Rollen mit Kommentar und abgeleitete Informationen inklusive der funktionalen Befugnisse aus den Rollen (Mitte); Anforderungen, Normbezug und Review (rechts).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Rolle beschreibt Pflichten und funktionale Befugnisse für jeden Inhaber. Die Inhaber ergeben sich aus den Stellen. Im Abschnitt Erforderliche Übertragung steht je Inhaber der Stand der Bestellung; eine fehlende Bestellung lässt sich direkt anlegen. Zusätzlich zeigt der Handlungsbedarf die Funktionstrennung (ISB und IT-Administration bei Daniel Becker).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Pflichtendelegation nach § 13 Abs. 2 ArbSchG an Petra Yilmaz (Leitung Wareneingang): Umfang, Befugnisse und Budget sind klar abgegrenzt, die Annahme ist dokumentiert. Die Restpflicht der Geschäftsführung zur Überwachung ist als Maßnahme mit Frequenz erfasst – die letzte Kontrolle ist älter als ein Jahr, deshalb Handlungsbedarf.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und Untertitel">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75488" y="274320"/>
            <a:ext cx="11247120" cy="566928"/>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ph idx="101" type="body" hasCustomPrompt="1"/>
          </p:nvPr>
        </p:nvSpPr>
        <p:spPr>
          <a:xfrm>
            <a:off x="475488" y="841248"/>
            <a:ext cx="11247120" cy="365760"/>
          </a:xfrm>
          <a:prstGeom prst="rect">
            <a:avLst/>
          </a:prstGeom>
          <a:noFill/>
          <a:ln/>
        </p:spPr>
        <p:txBody>
          <a:bodyPr wrap="square" rtlCol="0"/>
          <a:lstStyle>
            <a:lvl1pPr algn="l" indent="0" marL="0">
              <a:buNone/>
              <a:defRPr lang="en-US" sz="1400" dirty="0">
                <a:solidFill>
                  <a:srgbClr val="5F6B7A"/>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75488" y="274320"/>
            <a:ext cx="11247120" cy="566928"/>
          </a:xfrm>
          <a:prstGeom prst="rect">
            <a:avLst/>
          </a:prstGeom>
          <a:noFill/>
          <a:ln/>
        </p:spPr>
        <p:txBody>
          <a:bodyPr wrap="square" lIns="0" tIns="0" rIns="0" bIns="0" rtlCol="0" anchor="ctr"/>
          <a:lstStyle/>
          <a:p>
            <a:pPr algn="l" indent="0" marL="0">
              <a:buNone/>
            </a:pPr>
            <a:r>
              <a:rPr lang="en-US" sz="3000" b="1" dirty="0">
                <a:solidFill>
                  <a:schemeClr val="tx2"/>
                </a:solidFill>
              </a:rPr>
              <a:t>Person, Stelle, Rolle und Übertragung</a:t>
            </a:r>
            <a:endParaRPr lang="en-US" sz="3000" dirty="0"/>
          </a:p>
        </p:txBody>
      </p:sp>
      <p:sp>
        <p:nvSpPr>
          <p:cNvPr id="3" name="Text 0"/>
          <p:cNvSpPr/>
          <p:nvPr>
            <p:ph idx="101" type="body" hasCustomPrompt="1"/>
          </p:nvPr>
        </p:nvSpPr>
        <p:spPr>
          <a:xfrm>
            <a:off x="475488" y="841248"/>
            <a:ext cx="11247120" cy="365760"/>
          </a:xfrm>
          <a:prstGeom prst="rect">
            <a:avLst/>
          </a:prstGeom>
          <a:noFill/>
          <a:ln/>
        </p:spPr>
        <p:txBody>
          <a:bodyPr wrap="square" lIns="0" tIns="0" rIns="0" bIns="0" rtlCol="0" anchor="t"/>
          <a:lstStyle/>
          <a:p>
            <a:pPr algn="l" indent="0" marL="0">
              <a:buNone/>
            </a:pPr>
            <a:r>
              <a:rPr lang="en-US" sz="1400" b="1" dirty="0">
                <a:solidFill>
                  <a:srgbClr val="7048E8"/>
                </a:solidFill>
              </a:rPr>
              <a:t>Rolle</a:t>
            </a:r>
            <a:pPr algn="l" indent="0" marL="0">
              <a:buNone/>
            </a:pPr>
            <a:r>
              <a:rPr lang="en-US" sz="1400" dirty="0">
                <a:solidFill>
                  <a:srgbClr val="5F6B7A"/>
                </a:solidFill>
              </a:rPr>
              <a:t> = was zu tun ist  ·  </a:t>
            </a:r>
            <a:pPr algn="l" indent="0" marL="0">
              <a:buNone/>
            </a:pPr>
            <a:r>
              <a:rPr lang="en-US" sz="1400" b="1" dirty="0">
                <a:solidFill>
                  <a:srgbClr val="AE3EC9"/>
                </a:solidFill>
              </a:rPr>
              <a:t>Stelle</a:t>
            </a:r>
            <a:pPr algn="l" indent="0" marL="0">
              <a:buNone/>
            </a:pPr>
            <a:r>
              <a:rPr lang="en-US" sz="1400" dirty="0">
                <a:solidFill>
                  <a:srgbClr val="5F6B7A"/>
                </a:solidFill>
              </a:rPr>
              <a:t> = wo es organisatorisch hängt  ·  </a:t>
            </a:r>
            <a:pPr algn="l" indent="0" marL="0">
              <a:buNone/>
            </a:pPr>
            <a:r>
              <a:rPr lang="en-US" sz="1400" b="1" dirty="0">
                <a:solidFill>
                  <a:srgbClr val="C2255C"/>
                </a:solidFill>
              </a:rPr>
              <a:t>Übertragung</a:t>
            </a:r>
            <a:pPr algn="l" indent="0" marL="0">
              <a:buNone/>
            </a:pPr>
            <a:r>
              <a:rPr lang="en-US" sz="1400" dirty="0">
                <a:solidFill>
                  <a:srgbClr val="5F6B7A"/>
                </a:solidFill>
              </a:rPr>
              <a:t> = wer es persönlich und rechtswirksam übernommen hat</a:t>
            </a:r>
            <a:endParaRPr lang="en-US" sz="1400" dirty="0"/>
          </a:p>
        </p:txBody>
      </p:sp>
      <p:sp>
        <p:nvSpPr>
          <p:cNvPr id="4" name="Kasten Person"/>
          <p:cNvSpPr/>
          <p:nvPr/>
        </p:nvSpPr>
        <p:spPr>
          <a:xfrm>
            <a:off x="475488" y="1463040"/>
            <a:ext cx="3063240" cy="2103120"/>
          </a:xfrm>
          <a:prstGeom prst="roundRect">
            <a:avLst>
              <a:gd name="adj" fmla="val 5217"/>
            </a:avLst>
          </a:prstGeom>
          <a:solidFill>
            <a:srgbClr val="F1F3F5"/>
          </a:solidFill>
          <a:ln w="19050">
            <a:solidFill>
              <a:srgbClr val="495057"/>
            </a:solidFill>
            <a:prstDash val="solid"/>
          </a:ln>
        </p:spPr>
      </p:sp>
      <p:sp>
        <p:nvSpPr>
          <p:cNvPr id="5" name="Text Person"/>
          <p:cNvSpPr txBox="1"/>
          <p:nvPr/>
        </p:nvSpPr>
        <p:spPr>
          <a:xfrm>
            <a:off x="612648" y="1554480"/>
            <a:ext cx="2788920" cy="1920240"/>
          </a:xfrm>
          <a:prstGeom prst="rect">
            <a:avLst/>
          </a:prstGeom>
          <a:noFill/>
          <a:ln/>
        </p:spPr>
        <p:txBody>
          <a:bodyPr wrap="square" lIns="635" tIns="635" rIns="635" bIns="635" rtlCol="0" anchor="t"/>
          <a:lstStyle/>
          <a:p>
            <a:pPr indent="0" marL="0">
              <a:buNone/>
            </a:pPr>
            <a:r>
              <a:rPr lang="en-US" sz="2000" b="1" dirty="0">
                <a:solidFill>
                  <a:srgbClr val="495057"/>
                </a:solidFill>
              </a:rPr>
              <a:t>Person</a:t>
            </a:r>
            <a:endParaRPr lang="en-US" sz="2000" dirty="0"/>
          </a:p>
          <a:p>
            <a:pPr indent="0" marL="0">
              <a:spcAft>
                <a:spcPts val="600"/>
              </a:spcAft>
              <a:buNone/>
            </a:pPr>
            <a:r>
              <a:rPr lang="en-US" sz="1200" i="1" dirty="0">
                <a:solidFill>
                  <a:srgbClr val="5F6B7A"/>
                </a:solidFill>
              </a:rPr>
              <a:t>Arbeitsvertrag · Benutzer</a:t>
            </a:r>
            <a:endParaRPr lang="en-US" sz="2000" dirty="0"/>
          </a:p>
          <a:p>
            <a:pPr marL="342900" indent="-342900">
              <a:spcAft>
                <a:spcPts val="300"/>
              </a:spcAft>
              <a:buSzPct val="100000"/>
              <a:buChar char="•"/>
            </a:pPr>
            <a:r>
              <a:rPr lang="en-US" sz="1400" dirty="0">
                <a:solidFill>
                  <a:srgbClr val="1F2933"/>
                </a:solidFill>
              </a:rPr>
              <a:t>Vertrag (Verweis ins HR-System)</a:t>
            </a:r>
            <a:endParaRPr lang="en-US" sz="2000" dirty="0"/>
          </a:p>
          <a:p>
            <a:pPr marL="342900" indent="-342900">
              <a:spcAft>
                <a:spcPts val="300"/>
              </a:spcAft>
              <a:buSzPct val="100000"/>
              <a:buChar char="•"/>
            </a:pPr>
            <a:r>
              <a:rPr lang="en-US" sz="1400" dirty="0">
                <a:solidFill>
                  <a:srgbClr val="1F2933"/>
                </a:solidFill>
              </a:rPr>
              <a:t>Befristung / Austritt</a:t>
            </a:r>
            <a:endParaRPr lang="en-US" sz="2000" dirty="0"/>
          </a:p>
          <a:p>
            <a:pPr marL="342900" indent="-342900">
              <a:spcAft>
                <a:spcPts val="300"/>
              </a:spcAft>
              <a:buSzPct val="100000"/>
              <a:buChar char="•"/>
            </a:pPr>
            <a:r>
              <a:rPr lang="en-US" sz="1400" dirty="0">
                <a:solidFill>
                  <a:srgbClr val="1F2933"/>
                </a:solidFill>
              </a:rPr>
              <a:t>Kenntnisnahme Stellenbeschreibung</a:t>
            </a:r>
            <a:endParaRPr lang="en-US" sz="2000" dirty="0"/>
          </a:p>
          <a:p>
            <a:pPr marL="342900" indent="-342900">
              <a:spcAft>
                <a:spcPts val="300"/>
              </a:spcAft>
              <a:buSzPct val="100000"/>
              <a:buChar char="•"/>
            </a:pPr>
            <a:r>
              <a:rPr lang="en-US" sz="1400" dirty="0">
                <a:solidFill>
                  <a:srgbClr val="1F2933"/>
                </a:solidFill>
              </a:rPr>
              <a:t>Vertraulichkeit, Verhaltenskodex</a:t>
            </a:r>
            <a:endParaRPr lang="en-US" sz="2000" dirty="0"/>
          </a:p>
        </p:txBody>
      </p:sp>
      <p:sp>
        <p:nvSpPr>
          <p:cNvPr id="6" name="Kasten Stelle"/>
          <p:cNvSpPr/>
          <p:nvPr/>
        </p:nvSpPr>
        <p:spPr>
          <a:xfrm>
            <a:off x="4562856" y="1463040"/>
            <a:ext cx="3063240" cy="2103120"/>
          </a:xfrm>
          <a:prstGeom prst="roundRect">
            <a:avLst>
              <a:gd name="adj" fmla="val 5217"/>
            </a:avLst>
          </a:prstGeom>
          <a:solidFill>
            <a:srgbClr val="F8EEFB"/>
          </a:solidFill>
          <a:ln w="19050">
            <a:solidFill>
              <a:srgbClr val="AE3EC9"/>
            </a:solidFill>
            <a:prstDash val="solid"/>
          </a:ln>
        </p:spPr>
      </p:sp>
      <p:sp>
        <p:nvSpPr>
          <p:cNvPr id="7" name="Text Stelle"/>
          <p:cNvSpPr txBox="1"/>
          <p:nvPr/>
        </p:nvSpPr>
        <p:spPr>
          <a:xfrm>
            <a:off x="4700016" y="1554480"/>
            <a:ext cx="2788920" cy="1920240"/>
          </a:xfrm>
          <a:prstGeom prst="rect">
            <a:avLst/>
          </a:prstGeom>
          <a:noFill/>
          <a:ln/>
        </p:spPr>
        <p:txBody>
          <a:bodyPr wrap="square" lIns="635" tIns="635" rIns="635" bIns="635" rtlCol="0" anchor="t"/>
          <a:lstStyle/>
          <a:p>
            <a:pPr indent="0" marL="0">
              <a:buNone/>
            </a:pPr>
            <a:r>
              <a:rPr lang="en-US" sz="2000" b="1" dirty="0">
                <a:solidFill>
                  <a:srgbClr val="AE3EC9"/>
                </a:solidFill>
              </a:rPr>
              <a:t>Stelle</a:t>
            </a:r>
            <a:endParaRPr lang="en-US" sz="2000" dirty="0"/>
          </a:p>
          <a:p>
            <a:pPr indent="0" marL="0">
              <a:spcAft>
                <a:spcPts val="600"/>
              </a:spcAft>
              <a:buNone/>
            </a:pPr>
            <a:r>
              <a:rPr lang="en-US" sz="1200" i="1" dirty="0">
                <a:solidFill>
                  <a:srgbClr val="5F6B7A"/>
                </a:solidFill>
              </a:rPr>
              <a:t>Position in der Organisation</a:t>
            </a:r>
            <a:endParaRPr lang="en-US" sz="2000" dirty="0"/>
          </a:p>
          <a:p>
            <a:pPr marL="342900" indent="-342900">
              <a:spcAft>
                <a:spcPts val="300"/>
              </a:spcAft>
              <a:buSzPct val="100000"/>
              <a:buChar char="•"/>
            </a:pPr>
            <a:r>
              <a:rPr lang="en-US" sz="1400" dirty="0">
                <a:solidFill>
                  <a:srgbClr val="1F2933"/>
                </a:solidFill>
              </a:rPr>
              <a:t>Stellenbeschreibung, Hierarchie</a:t>
            </a:r>
            <a:endParaRPr lang="en-US" sz="2000" dirty="0"/>
          </a:p>
          <a:p>
            <a:pPr marL="342900" indent="-342900">
              <a:spcAft>
                <a:spcPts val="300"/>
              </a:spcAft>
              <a:buSzPct val="100000"/>
              <a:buChar char="•"/>
            </a:pPr>
            <a:r>
              <a:rPr lang="en-US" sz="1400" dirty="0">
                <a:solidFill>
                  <a:srgbClr val="1F2933"/>
                </a:solidFill>
              </a:rPr>
              <a:t>Befugnisse der Stelle (Weisung, Budget)</a:t>
            </a:r>
            <a:endParaRPr lang="en-US" sz="2000" dirty="0"/>
          </a:p>
          <a:p>
            <a:pPr marL="342900" indent="-342900">
              <a:spcAft>
                <a:spcPts val="300"/>
              </a:spcAft>
              <a:buSzPct val="100000"/>
              <a:buChar char="•"/>
            </a:pPr>
            <a:r>
              <a:rPr lang="en-US" sz="1400" dirty="0">
                <a:solidFill>
                  <a:srgbClr val="1F2933"/>
                </a:solidFill>
              </a:rPr>
              <a:t>Soll-Vollmacht, Freigabelimit</a:t>
            </a:r>
            <a:endParaRPr lang="en-US" sz="2000" dirty="0"/>
          </a:p>
          <a:p>
            <a:pPr marL="342900" indent="-342900">
              <a:spcAft>
                <a:spcPts val="300"/>
              </a:spcAft>
              <a:buSzPct val="100000"/>
              <a:buChar char="•"/>
            </a:pPr>
            <a:r>
              <a:rPr lang="en-US" sz="1400" dirty="0">
                <a:solidFill>
                  <a:srgbClr val="1F2933"/>
                </a:solidFill>
              </a:rPr>
              <a:t>Vertretung</a:t>
            </a:r>
            <a:endParaRPr lang="en-US" sz="2000" dirty="0"/>
          </a:p>
        </p:txBody>
      </p:sp>
      <p:sp>
        <p:nvSpPr>
          <p:cNvPr id="8" name="Kasten Rolle"/>
          <p:cNvSpPr/>
          <p:nvPr/>
        </p:nvSpPr>
        <p:spPr>
          <a:xfrm>
            <a:off x="8659368" y="1463040"/>
            <a:ext cx="3063240" cy="2103120"/>
          </a:xfrm>
          <a:prstGeom prst="roundRect">
            <a:avLst>
              <a:gd name="adj" fmla="val 5217"/>
            </a:avLst>
          </a:prstGeom>
          <a:solidFill>
            <a:srgbClr val="F1EDFD"/>
          </a:solidFill>
          <a:ln w="19050">
            <a:solidFill>
              <a:srgbClr val="7048E8"/>
            </a:solidFill>
            <a:prstDash val="solid"/>
          </a:ln>
        </p:spPr>
      </p:sp>
      <p:sp>
        <p:nvSpPr>
          <p:cNvPr id="9" name="Text Rolle"/>
          <p:cNvSpPr txBox="1"/>
          <p:nvPr/>
        </p:nvSpPr>
        <p:spPr>
          <a:xfrm>
            <a:off x="8796528" y="1554480"/>
            <a:ext cx="2788920" cy="1920240"/>
          </a:xfrm>
          <a:prstGeom prst="rect">
            <a:avLst/>
          </a:prstGeom>
          <a:noFill/>
          <a:ln/>
        </p:spPr>
        <p:txBody>
          <a:bodyPr wrap="square" lIns="635" tIns="635" rIns="635" bIns="635" rtlCol="0" anchor="t"/>
          <a:lstStyle/>
          <a:p>
            <a:pPr indent="0" marL="0">
              <a:buNone/>
            </a:pPr>
            <a:r>
              <a:rPr lang="en-US" sz="2000" b="1" dirty="0">
                <a:solidFill>
                  <a:srgbClr val="7048E8"/>
                </a:solidFill>
              </a:rPr>
              <a:t>Rolle</a:t>
            </a:r>
            <a:endParaRPr lang="en-US" sz="2000" dirty="0"/>
          </a:p>
          <a:p>
            <a:pPr indent="0" marL="0">
              <a:spcAft>
                <a:spcPts val="600"/>
              </a:spcAft>
              <a:buNone/>
            </a:pPr>
            <a:r>
              <a:rPr lang="en-US" sz="1200" i="1" dirty="0">
                <a:solidFill>
                  <a:srgbClr val="5F6B7A"/>
                </a:solidFill>
              </a:rPr>
              <a:t>Pflicht im Managementsystem</a:t>
            </a:r>
            <a:endParaRPr lang="en-US" sz="2000" dirty="0"/>
          </a:p>
          <a:p>
            <a:pPr marL="342900" indent="-342900">
              <a:spcAft>
                <a:spcPts val="300"/>
              </a:spcAft>
              <a:buSzPct val="100000"/>
              <a:buChar char="•"/>
            </a:pPr>
            <a:r>
              <a:rPr lang="en-US" sz="1400" dirty="0">
                <a:solidFill>
                  <a:srgbClr val="1F2933"/>
                </a:solidFill>
              </a:rPr>
              <a:t>Verantwortlichkeiten, RACI</a:t>
            </a:r>
            <a:endParaRPr lang="en-US" sz="2000" dirty="0"/>
          </a:p>
          <a:p>
            <a:pPr marL="342900" indent="-342900">
              <a:spcAft>
                <a:spcPts val="300"/>
              </a:spcAft>
              <a:buSzPct val="100000"/>
              <a:buChar char="•"/>
            </a:pPr>
            <a:r>
              <a:rPr lang="en-US" sz="1400" dirty="0">
                <a:solidFill>
                  <a:srgbClr val="1F2933"/>
                </a:solidFill>
              </a:rPr>
              <a:t>Funktionale Befugnisse</a:t>
            </a:r>
            <a:endParaRPr lang="en-US" sz="2000" dirty="0"/>
          </a:p>
          <a:p>
            <a:pPr marL="342900" indent="-342900">
              <a:spcAft>
                <a:spcPts val="300"/>
              </a:spcAft>
              <a:buSzPct val="100000"/>
              <a:buChar char="•"/>
            </a:pPr>
            <a:r>
              <a:rPr lang="en-US" sz="1400" dirty="0">
                <a:solidFill>
                  <a:srgbClr val="1F2933"/>
                </a:solidFill>
              </a:rPr>
              <a:t>Funktionstrennung</a:t>
            </a:r>
            <a:endParaRPr lang="en-US" sz="2000" dirty="0"/>
          </a:p>
          <a:p>
            <a:pPr marL="342900" indent="-342900">
              <a:spcAft>
                <a:spcPts val="300"/>
              </a:spcAft>
              <a:buSzPct val="100000"/>
              <a:buChar char="•"/>
            </a:pPr>
            <a:r>
              <a:rPr lang="en-US" sz="1400" dirty="0">
                <a:solidFill>
                  <a:srgbClr val="1F2933"/>
                </a:solidFill>
              </a:rPr>
              <a:t>Erforderliche Übertragung</a:t>
            </a:r>
            <a:endParaRPr lang="en-US" sz="2000" dirty="0"/>
          </a:p>
        </p:txBody>
      </p:sp>
      <p:sp>
        <p:nvSpPr>
          <p:cNvPr id="10" name="Shape 8"/>
          <p:cNvSpPr/>
          <p:nvPr/>
        </p:nvSpPr>
        <p:spPr>
          <a:xfrm>
            <a:off x="3538728" y="2514600"/>
            <a:ext cx="1024128" cy="0"/>
          </a:xfrm>
          <a:prstGeom prst="line">
            <a:avLst/>
          </a:prstGeom>
          <a:noFill/>
          <a:ln w="22225">
            <a:solidFill>
              <a:schemeClr val="tx2"/>
            </a:solidFill>
            <a:prstDash val="solid"/>
            <a:tailEnd type="triangle"/>
          </a:ln>
        </p:spPr>
      </p:sp>
      <p:sp>
        <p:nvSpPr>
          <p:cNvPr id="11" name="Text 9"/>
          <p:cNvSpPr txBox="1"/>
          <p:nvPr/>
        </p:nvSpPr>
        <p:spPr>
          <a:xfrm>
            <a:off x="3493008" y="1947672"/>
            <a:ext cx="1115568" cy="512064"/>
          </a:xfrm>
          <a:prstGeom prst="rect">
            <a:avLst/>
          </a:prstGeom>
          <a:noFill/>
          <a:ln/>
        </p:spPr>
        <p:txBody>
          <a:bodyPr wrap="square" lIns="0" tIns="0" rIns="0" bIns="0" rtlCol="0" anchor="b"/>
          <a:lstStyle/>
          <a:p>
            <a:pPr algn="ctr" indent="0" marL="0">
              <a:buNone/>
            </a:pPr>
            <a:r>
              <a:rPr lang="en-US" sz="1100" dirty="0">
                <a:solidFill>
                  <a:schemeClr val="tx2"/>
                </a:solidFill>
              </a:rPr>
              <a:t>hat genau eine</a:t>
            </a:r>
            <a:endParaRPr lang="en-US" sz="1100" dirty="0"/>
          </a:p>
        </p:txBody>
      </p:sp>
      <p:sp>
        <p:nvSpPr>
          <p:cNvPr id="12" name="Shape 10"/>
          <p:cNvSpPr/>
          <p:nvPr/>
        </p:nvSpPr>
        <p:spPr>
          <a:xfrm>
            <a:off x="7626096" y="2514600"/>
            <a:ext cx="1033272" cy="0"/>
          </a:xfrm>
          <a:prstGeom prst="line">
            <a:avLst/>
          </a:prstGeom>
          <a:noFill/>
          <a:ln w="22225">
            <a:solidFill>
              <a:schemeClr val="tx2"/>
            </a:solidFill>
            <a:prstDash val="solid"/>
            <a:tailEnd type="triangle"/>
          </a:ln>
        </p:spPr>
      </p:sp>
      <p:sp>
        <p:nvSpPr>
          <p:cNvPr id="13" name="Text 11"/>
          <p:cNvSpPr txBox="1"/>
          <p:nvPr/>
        </p:nvSpPr>
        <p:spPr>
          <a:xfrm>
            <a:off x="7580376" y="1947672"/>
            <a:ext cx="1124712" cy="512064"/>
          </a:xfrm>
          <a:prstGeom prst="rect">
            <a:avLst/>
          </a:prstGeom>
          <a:noFill/>
          <a:ln/>
        </p:spPr>
        <p:txBody>
          <a:bodyPr wrap="square" lIns="0" tIns="0" rIns="0" bIns="0" rtlCol="0" anchor="b"/>
          <a:lstStyle/>
          <a:p>
            <a:pPr algn="ctr" indent="0" marL="0">
              <a:buNone/>
            </a:pPr>
            <a:r>
              <a:rPr lang="en-US" sz="1100" dirty="0">
                <a:solidFill>
                  <a:schemeClr val="tx2"/>
                </a:solidFill>
              </a:rPr>
              <a:t>bündelt n Rollen (mit Kommentar)</a:t>
            </a:r>
            <a:endParaRPr lang="en-US" sz="1100" dirty="0"/>
          </a:p>
        </p:txBody>
      </p:sp>
      <p:sp>
        <p:nvSpPr>
          <p:cNvPr id="14" name="Kasten Übertragung"/>
          <p:cNvSpPr/>
          <p:nvPr/>
        </p:nvSpPr>
        <p:spPr>
          <a:xfrm>
            <a:off x="475488" y="4389120"/>
            <a:ext cx="11247120" cy="1325880"/>
          </a:xfrm>
          <a:prstGeom prst="roundRect">
            <a:avLst>
              <a:gd name="adj" fmla="val 8276"/>
            </a:avLst>
          </a:prstGeom>
          <a:solidFill>
            <a:srgbClr val="FCEEF3"/>
          </a:solidFill>
          <a:ln w="19050">
            <a:solidFill>
              <a:srgbClr val="C2255C"/>
            </a:solidFill>
            <a:prstDash val="solid"/>
          </a:ln>
        </p:spPr>
      </p:sp>
      <p:sp>
        <p:nvSpPr>
          <p:cNvPr id="15" name="Text Übertragung"/>
          <p:cNvSpPr txBox="1"/>
          <p:nvPr/>
        </p:nvSpPr>
        <p:spPr>
          <a:xfrm>
            <a:off x="612648" y="4462272"/>
            <a:ext cx="10972800" cy="1179576"/>
          </a:xfrm>
          <a:prstGeom prst="rect">
            <a:avLst/>
          </a:prstGeom>
          <a:noFill/>
          <a:ln/>
        </p:spPr>
        <p:txBody>
          <a:bodyPr wrap="square" lIns="635" tIns="635" rIns="635" bIns="635" rtlCol="0" anchor="ctr"/>
          <a:lstStyle/>
          <a:p>
            <a:pPr indent="0" marL="0">
              <a:buNone/>
            </a:pPr>
            <a:r>
              <a:rPr lang="en-US" sz="2000" b="1" dirty="0">
                <a:solidFill>
                  <a:srgbClr val="C2255C"/>
                </a:solidFill>
              </a:rPr>
              <a:t>Übertragung (Delegationen &amp; Vollmachten)</a:t>
            </a:r>
            <a:endParaRPr lang="en-US" sz="2000" dirty="0"/>
          </a:p>
          <a:p>
            <a:pPr indent="0" marL="0">
              <a:buNone/>
            </a:pPr>
            <a:r>
              <a:rPr lang="en-US" sz="1400" dirty="0">
                <a:solidFill>
                  <a:srgbClr val="1F2933"/>
                </a:solidFill>
              </a:rPr>
              <a:t>Bestellung/Benennung · Pflichtendelegation · Prokura · Handlungsvollmacht · Bankvollmacht · Freigabebefugnis · Stellvertretung</a:t>
            </a:r>
            <a:endParaRPr lang="en-US" sz="2000" dirty="0"/>
          </a:p>
          <a:p>
            <a:pPr indent="0" marL="0">
              <a:buNone/>
            </a:pPr>
            <a:r>
              <a:rPr lang="en-US" sz="1400" dirty="0">
                <a:solidFill>
                  <a:srgbClr val="1F2933"/>
                </a:solidFill>
              </a:rPr>
              <a:t>Erteilt durch GF oder Gremium · wirksam erst, wenn erteilt, gültig und vom Empfänger angenommen · Überwachung durch den Delegierenden</a:t>
            </a:r>
            <a:endParaRPr lang="en-US" sz="2000" dirty="0"/>
          </a:p>
        </p:txBody>
      </p:sp>
      <p:sp>
        <p:nvSpPr>
          <p:cNvPr id="16" name="Shape 14"/>
          <p:cNvSpPr/>
          <p:nvPr/>
        </p:nvSpPr>
        <p:spPr>
          <a:xfrm>
            <a:off x="2007108" y="3566160"/>
            <a:ext cx="0" cy="822960"/>
          </a:xfrm>
          <a:prstGeom prst="line">
            <a:avLst/>
          </a:prstGeom>
          <a:noFill/>
          <a:ln w="22225">
            <a:solidFill>
              <a:srgbClr val="C2255C"/>
            </a:solidFill>
            <a:prstDash val="solid"/>
            <a:headEnd type="triangle"/>
          </a:ln>
        </p:spPr>
      </p:sp>
      <p:sp>
        <p:nvSpPr>
          <p:cNvPr id="17" name="Text 15"/>
          <p:cNvSpPr txBox="1"/>
          <p:nvPr/>
        </p:nvSpPr>
        <p:spPr>
          <a:xfrm>
            <a:off x="2116836" y="3675888"/>
            <a:ext cx="2651760" cy="548640"/>
          </a:xfrm>
          <a:prstGeom prst="rect">
            <a:avLst/>
          </a:prstGeom>
          <a:noFill/>
          <a:ln/>
        </p:spPr>
        <p:txBody>
          <a:bodyPr wrap="square" lIns="0" tIns="0" rIns="0" bIns="0" rtlCol="0" anchor="ctr"/>
          <a:lstStyle/>
          <a:p>
            <a:pPr algn="l" indent="0" marL="0">
              <a:buNone/>
            </a:pPr>
            <a:r>
              <a:rPr lang="en-US" sz="1100" dirty="0">
                <a:solidFill>
                  <a:srgbClr val="C2255C"/>
                </a:solidFill>
              </a:rPr>
              <a:t>Empfänger: genau eine Person</a:t>
            </a:r>
            <a:endParaRPr lang="en-US" sz="1100" dirty="0"/>
          </a:p>
        </p:txBody>
      </p:sp>
      <p:sp>
        <p:nvSpPr>
          <p:cNvPr id="18" name="Shape 16"/>
          <p:cNvSpPr/>
          <p:nvPr/>
        </p:nvSpPr>
        <p:spPr>
          <a:xfrm>
            <a:off x="6094476" y="3566160"/>
            <a:ext cx="0" cy="822960"/>
          </a:xfrm>
          <a:prstGeom prst="line">
            <a:avLst/>
          </a:prstGeom>
          <a:noFill/>
          <a:ln w="22225">
            <a:solidFill>
              <a:srgbClr val="C2255C"/>
            </a:solidFill>
            <a:prstDash val="solid"/>
            <a:headEnd type="triangle"/>
          </a:ln>
        </p:spPr>
      </p:sp>
      <p:sp>
        <p:nvSpPr>
          <p:cNvPr id="19" name="Text 17"/>
          <p:cNvSpPr txBox="1"/>
          <p:nvPr/>
        </p:nvSpPr>
        <p:spPr>
          <a:xfrm>
            <a:off x="6204204" y="3675888"/>
            <a:ext cx="2651760" cy="548640"/>
          </a:xfrm>
          <a:prstGeom prst="rect">
            <a:avLst/>
          </a:prstGeom>
          <a:noFill/>
          <a:ln/>
        </p:spPr>
        <p:txBody>
          <a:bodyPr wrap="square" lIns="0" tIns="0" rIns="0" bIns="0" rtlCol="0" anchor="ctr"/>
          <a:lstStyle/>
          <a:p>
            <a:pPr algn="l" indent="0" marL="0">
              <a:buNone/>
            </a:pPr>
            <a:r>
              <a:rPr lang="en-US" sz="1100" dirty="0">
                <a:solidFill>
                  <a:srgbClr val="C2255C"/>
                </a:solidFill>
              </a:rPr>
              <a:t>Bezug: Stelle (z. B. Prokura)</a:t>
            </a:r>
            <a:endParaRPr lang="en-US" sz="1100" dirty="0"/>
          </a:p>
        </p:txBody>
      </p:sp>
      <p:sp>
        <p:nvSpPr>
          <p:cNvPr id="20" name="Shape 18"/>
          <p:cNvSpPr/>
          <p:nvPr/>
        </p:nvSpPr>
        <p:spPr>
          <a:xfrm>
            <a:off x="10190988" y="3566160"/>
            <a:ext cx="0" cy="822960"/>
          </a:xfrm>
          <a:prstGeom prst="line">
            <a:avLst/>
          </a:prstGeom>
          <a:noFill/>
          <a:ln w="22225">
            <a:solidFill>
              <a:srgbClr val="C2255C"/>
            </a:solidFill>
            <a:prstDash val="solid"/>
            <a:headEnd type="triangle"/>
          </a:ln>
        </p:spPr>
      </p:sp>
      <p:sp>
        <p:nvSpPr>
          <p:cNvPr id="21" name="Text 19"/>
          <p:cNvSpPr txBox="1"/>
          <p:nvPr/>
        </p:nvSpPr>
        <p:spPr>
          <a:xfrm>
            <a:off x="7429500" y="3675888"/>
            <a:ext cx="2651760" cy="548640"/>
          </a:xfrm>
          <a:prstGeom prst="rect">
            <a:avLst/>
          </a:prstGeom>
          <a:noFill/>
          <a:ln/>
        </p:spPr>
        <p:txBody>
          <a:bodyPr wrap="square" lIns="0" tIns="0" rIns="0" bIns="0" rtlCol="0" anchor="ctr"/>
          <a:lstStyle/>
          <a:p>
            <a:pPr algn="r" indent="0" marL="0">
              <a:buNone/>
            </a:pPr>
            <a:r>
              <a:rPr lang="en-US" sz="1100" dirty="0">
                <a:solidFill>
                  <a:srgbClr val="C2255C"/>
                </a:solidFill>
              </a:rPr>
              <a:t>Bezug: Rolle (z. B. Bestellung ISB)</a:t>
            </a:r>
            <a:endParaRPr lang="en-US" sz="1100" dirty="0"/>
          </a:p>
        </p:txBody>
      </p:sp>
      <p:sp>
        <p:nvSpPr>
          <p:cNvPr id="22" name="Text 20"/>
          <p:cNvSpPr txBox="1"/>
          <p:nvPr/>
        </p:nvSpPr>
        <p:spPr>
          <a:xfrm>
            <a:off x="475488" y="5943600"/>
            <a:ext cx="10607040" cy="365760"/>
          </a:xfrm>
          <a:prstGeom prst="rect">
            <a:avLst/>
          </a:prstGeom>
          <a:noFill/>
          <a:ln/>
        </p:spPr>
        <p:txBody>
          <a:bodyPr wrap="square" lIns="0" tIns="0" rIns="0" bIns="0" rtlCol="0" anchor="ctr"/>
          <a:lstStyle/>
          <a:p>
            <a:pPr indent="0" marL="0">
              <a:buNone/>
            </a:pPr>
            <a:r>
              <a:rPr lang="en-US" sz="1200" b="1" dirty="0">
                <a:solidFill>
                  <a:srgbClr val="5F6B7A"/>
                </a:solidFill>
              </a:rPr>
              <a:t>Beispiel: </a:t>
            </a:r>
            <a:pPr indent="0" marL="0">
              <a:buNone/>
            </a:pPr>
            <a:r>
              <a:rPr lang="en-US" sz="1200" dirty="0">
                <a:solidFill>
                  <a:srgbClr val="5F6B7A"/>
                </a:solidFill>
              </a:rPr>
              <a:t>Dr. Anna Berger → Stelle „Leiterin Einkauf“ → Rollen „Leitung Einkauf“, „Kostenstellenverantwortlicher“ → Gesamtprokura DV-007 (wirksam)</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75488" y="274320"/>
            <a:ext cx="11247120" cy="566928"/>
          </a:xfrm>
          <a:prstGeom prst="rect">
            <a:avLst/>
          </a:prstGeom>
          <a:noFill/>
          <a:ln/>
        </p:spPr>
        <p:txBody>
          <a:bodyPr wrap="square" lIns="0" tIns="0" rIns="0" bIns="0" rtlCol="0" anchor="ctr"/>
          <a:lstStyle/>
          <a:p>
            <a:pPr algn="l" indent="0" marL="0">
              <a:buNone/>
            </a:pPr>
            <a:r>
              <a:rPr lang="en-US" sz="3000" b="1" dirty="0">
                <a:solidFill>
                  <a:schemeClr val="tx2"/>
                </a:solidFill>
              </a:rPr>
              <a:t>Maske Stelle: Leiterin / Leiter Einkauf (ST-002)</a:t>
            </a:r>
            <a:endParaRPr lang="en-US" sz="3000" dirty="0"/>
          </a:p>
        </p:txBody>
      </p:sp>
      <p:sp>
        <p:nvSpPr>
          <p:cNvPr id="3" name="Text 0"/>
          <p:cNvSpPr/>
          <p:nvPr>
            <p:ph idx="101" type="body" hasCustomPrompt="1"/>
          </p:nvPr>
        </p:nvSpPr>
        <p:spPr>
          <a:xfrm>
            <a:off x="475488" y="841248"/>
            <a:ext cx="11247120" cy="365760"/>
          </a:xfrm>
          <a:prstGeom prst="rect">
            <a:avLst/>
          </a:prstGeom>
          <a:noFill/>
          <a:ln/>
        </p:spPr>
        <p:txBody>
          <a:bodyPr wrap="square" lIns="0" tIns="0" rIns="0" bIns="0" rtlCol="0" anchor="t"/>
          <a:lstStyle/>
          <a:p>
            <a:pPr algn="l" indent="0" marL="0">
              <a:buNone/>
            </a:pPr>
            <a:r>
              <a:rPr lang="en-US" sz="1400" b="1" dirty="0">
                <a:solidFill>
                  <a:srgbClr val="AE3EC9"/>
                </a:solidFill>
              </a:rPr>
              <a:t>Befugnisse der Stelle</a:t>
            </a:r>
            <a:pPr algn="l" indent="0" marL="0">
              <a:buNone/>
            </a:pPr>
            <a:r>
              <a:rPr lang="en-US" sz="1400" dirty="0">
                <a:solidFill>
                  <a:srgbClr val="5F6B7A"/>
                </a:solidFill>
              </a:rPr>
              <a:t> sind das Soll (Weisung, Budget, Prokura, Limit 250.000 EUR) – die Gesamtprokura von Dr. Anna Berger ist das Ist.</a:t>
            </a:r>
            <a:endParaRPr lang="en-US" sz="1400" dirty="0"/>
          </a:p>
        </p:txBody>
      </p:sp>
      <p:sp>
        <p:nvSpPr>
          <p:cNvPr id="4" name="Shape 2"/>
          <p:cNvSpPr/>
          <p:nvPr/>
        </p:nvSpPr>
        <p:spPr>
          <a:xfrm>
            <a:off x="457200" y="1353312"/>
            <a:ext cx="3602736" cy="4839387"/>
          </a:xfrm>
          <a:prstGeom prst="rect">
            <a:avLst/>
          </a:prstGeom>
          <a:solidFill>
            <a:srgbClr val="FFFFFF"/>
          </a:solidFill>
          <a:ln w="9525">
            <a:solidFill>
              <a:srgbClr val="D5DBE3"/>
            </a:solidFill>
            <a:prstDash val="solid"/>
          </a:ln>
          <a:effectLst>
            <a:outerShdw sx="100000" sy="100000" kx="0" ky="0" algn="bl" rotWithShape="0" blurRad="50800" dist="19050" dir="5400000">
              <a:srgbClr val="000000">
                <a:alpha val="12000"/>
              </a:srgbClr>
            </a:outerShdw>
          </a:effectLst>
        </p:spPr>
      </p:sp>
      <p:pic>
        <p:nvPicPr>
          <p:cNvPr id="5" name="Image 0" descr="Maske Maske Stelle: Leiterin / Leiter Einkauf (ST-002), Ausschnitt 1">    </p:cNvPr>
          <p:cNvPicPr>
            <a:picLocks noChangeAspect="1"/>
          </p:cNvPicPr>
          <p:nvPr/>
        </p:nvPicPr>
        <p:blipFill>
          <a:blip r:embed="rId1"/>
          <a:stretch>
            <a:fillRect/>
          </a:stretch>
        </p:blipFill>
        <p:spPr>
          <a:xfrm>
            <a:off x="475488" y="1371600"/>
            <a:ext cx="3566160" cy="4802811"/>
          </a:xfrm>
          <a:prstGeom prst="rect">
            <a:avLst/>
          </a:prstGeom>
        </p:spPr>
      </p:pic>
      <p:sp>
        <p:nvSpPr>
          <p:cNvPr id="6" name="Shape 3"/>
          <p:cNvSpPr/>
          <p:nvPr/>
        </p:nvSpPr>
        <p:spPr>
          <a:xfrm>
            <a:off x="4297680" y="1353312"/>
            <a:ext cx="3602736" cy="2787855"/>
          </a:xfrm>
          <a:prstGeom prst="rect">
            <a:avLst/>
          </a:prstGeom>
          <a:solidFill>
            <a:srgbClr val="FFFFFF"/>
          </a:solidFill>
          <a:ln w="9525">
            <a:solidFill>
              <a:srgbClr val="D5DBE3"/>
            </a:solidFill>
            <a:prstDash val="solid"/>
          </a:ln>
          <a:effectLst>
            <a:outerShdw sx="100000" sy="100000" kx="0" ky="0" algn="bl" rotWithShape="0" blurRad="50800" dist="19050" dir="5400000">
              <a:srgbClr val="000000">
                <a:alpha val="12000"/>
              </a:srgbClr>
            </a:outerShdw>
          </a:effectLst>
        </p:spPr>
      </p:sp>
      <p:pic>
        <p:nvPicPr>
          <p:cNvPr id="7" name="Image 1" descr="Maske Maske Stelle: Leiterin / Leiter Einkauf (ST-002), Ausschnitt 2">    </p:cNvPr>
          <p:cNvPicPr>
            <a:picLocks noChangeAspect="1"/>
          </p:cNvPicPr>
          <p:nvPr/>
        </p:nvPicPr>
        <p:blipFill>
          <a:blip r:embed="rId2"/>
          <a:stretch>
            <a:fillRect/>
          </a:stretch>
        </p:blipFill>
        <p:spPr>
          <a:xfrm>
            <a:off x="4315968" y="1371600"/>
            <a:ext cx="3566160" cy="2751279"/>
          </a:xfrm>
          <a:prstGeom prst="rect">
            <a:avLst/>
          </a:prstGeom>
        </p:spPr>
      </p:pic>
      <p:sp>
        <p:nvSpPr>
          <p:cNvPr id="8" name="Shape 4"/>
          <p:cNvSpPr/>
          <p:nvPr/>
        </p:nvSpPr>
        <p:spPr>
          <a:xfrm>
            <a:off x="4297680" y="4214319"/>
            <a:ext cx="3602736" cy="1902569"/>
          </a:xfrm>
          <a:prstGeom prst="rect">
            <a:avLst/>
          </a:prstGeom>
          <a:solidFill>
            <a:srgbClr val="FFFFFF"/>
          </a:solidFill>
          <a:ln w="9525">
            <a:solidFill>
              <a:srgbClr val="D5DBE3"/>
            </a:solidFill>
            <a:prstDash val="solid"/>
          </a:ln>
          <a:effectLst>
            <a:outerShdw sx="100000" sy="100000" kx="0" ky="0" algn="bl" rotWithShape="0" blurRad="50800" dist="19050" dir="5400000">
              <a:srgbClr val="000000">
                <a:alpha val="12000"/>
              </a:srgbClr>
            </a:outerShdw>
          </a:effectLst>
        </p:spPr>
      </p:sp>
      <p:pic>
        <p:nvPicPr>
          <p:cNvPr id="9" name="Image 2" descr="Maske Maske Stelle: Leiterin / Leiter Einkauf (ST-002), Ausschnitt 2">    </p:cNvPr>
          <p:cNvPicPr>
            <a:picLocks noChangeAspect="1"/>
          </p:cNvPicPr>
          <p:nvPr/>
        </p:nvPicPr>
        <p:blipFill>
          <a:blip r:embed="rId3"/>
          <a:stretch>
            <a:fillRect/>
          </a:stretch>
        </p:blipFill>
        <p:spPr>
          <a:xfrm>
            <a:off x="4315968" y="4232607"/>
            <a:ext cx="3566160" cy="1865993"/>
          </a:xfrm>
          <a:prstGeom prst="rect">
            <a:avLst/>
          </a:prstGeom>
        </p:spPr>
      </p:pic>
      <p:sp>
        <p:nvSpPr>
          <p:cNvPr id="10" name="Shape 5"/>
          <p:cNvSpPr/>
          <p:nvPr/>
        </p:nvSpPr>
        <p:spPr>
          <a:xfrm>
            <a:off x="8138160" y="1353312"/>
            <a:ext cx="3602736" cy="2528100"/>
          </a:xfrm>
          <a:prstGeom prst="rect">
            <a:avLst/>
          </a:prstGeom>
          <a:solidFill>
            <a:srgbClr val="FFFFFF"/>
          </a:solidFill>
          <a:ln w="9525">
            <a:solidFill>
              <a:srgbClr val="D5DBE3"/>
            </a:solidFill>
            <a:prstDash val="solid"/>
          </a:ln>
          <a:effectLst>
            <a:outerShdw sx="100000" sy="100000" kx="0" ky="0" algn="bl" rotWithShape="0" blurRad="50800" dist="19050" dir="5400000">
              <a:srgbClr val="000000">
                <a:alpha val="12000"/>
              </a:srgbClr>
            </a:outerShdw>
          </a:effectLst>
        </p:spPr>
      </p:sp>
      <p:pic>
        <p:nvPicPr>
          <p:cNvPr id="11" name="Image 3" descr="Maske Maske Stelle: Leiterin / Leiter Einkauf (ST-002), Ausschnitt 3">    </p:cNvPr>
          <p:cNvPicPr>
            <a:picLocks noChangeAspect="1"/>
          </p:cNvPicPr>
          <p:nvPr/>
        </p:nvPicPr>
        <p:blipFill>
          <a:blip r:embed="rId4"/>
          <a:stretch>
            <a:fillRect/>
          </a:stretch>
        </p:blipFill>
        <p:spPr>
          <a:xfrm>
            <a:off x="8156448" y="1371600"/>
            <a:ext cx="3566160" cy="2491524"/>
          </a:xfrm>
          <a:prstGeom prst="rect">
            <a:avLst/>
          </a:prstGeom>
        </p:spPr>
      </p:pic>
      <p:sp>
        <p:nvSpPr>
          <p:cNvPr id="12" name="Shape 6"/>
          <p:cNvSpPr/>
          <p:nvPr/>
        </p:nvSpPr>
        <p:spPr>
          <a:xfrm>
            <a:off x="8138160" y="3954564"/>
            <a:ext cx="3602736" cy="1563297"/>
          </a:xfrm>
          <a:prstGeom prst="rect">
            <a:avLst/>
          </a:prstGeom>
          <a:solidFill>
            <a:srgbClr val="FFFFFF"/>
          </a:solidFill>
          <a:ln w="9525">
            <a:solidFill>
              <a:srgbClr val="D5DBE3"/>
            </a:solidFill>
            <a:prstDash val="solid"/>
          </a:ln>
          <a:effectLst>
            <a:outerShdw sx="100000" sy="100000" kx="0" ky="0" algn="bl" rotWithShape="0" blurRad="50800" dist="19050" dir="5400000">
              <a:srgbClr val="000000">
                <a:alpha val="12000"/>
              </a:srgbClr>
            </a:outerShdw>
          </a:effectLst>
        </p:spPr>
      </p:sp>
      <p:pic>
        <p:nvPicPr>
          <p:cNvPr id="13" name="Image 4" descr="Maske Maske Stelle: Leiterin / Leiter Einkauf (ST-002), Ausschnitt 3">    </p:cNvPr>
          <p:cNvPicPr>
            <a:picLocks noChangeAspect="1"/>
          </p:cNvPicPr>
          <p:nvPr/>
        </p:nvPicPr>
        <p:blipFill>
          <a:blip r:embed="rId5"/>
          <a:stretch>
            <a:fillRect/>
          </a:stretch>
        </p:blipFill>
        <p:spPr>
          <a:xfrm>
            <a:off x="8156448" y="3972852"/>
            <a:ext cx="3566160" cy="1526721"/>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75488" y="274320"/>
            <a:ext cx="11247120" cy="566928"/>
          </a:xfrm>
          <a:prstGeom prst="rect">
            <a:avLst/>
          </a:prstGeom>
          <a:noFill/>
          <a:ln/>
        </p:spPr>
        <p:txBody>
          <a:bodyPr wrap="square" lIns="0" tIns="0" rIns="0" bIns="0" rtlCol="0" anchor="ctr"/>
          <a:lstStyle/>
          <a:p>
            <a:pPr algn="l" indent="0" marL="0">
              <a:buNone/>
            </a:pPr>
            <a:r>
              <a:rPr lang="en-US" sz="3000" b="1" dirty="0">
                <a:solidFill>
                  <a:schemeClr val="tx2"/>
                </a:solidFill>
              </a:rPr>
              <a:t>Maske Rolle: Informationssicherheitsbeauftragter (RO-007)</a:t>
            </a:r>
            <a:endParaRPr lang="en-US" sz="3000" dirty="0"/>
          </a:p>
        </p:txBody>
      </p:sp>
      <p:sp>
        <p:nvSpPr>
          <p:cNvPr id="3" name="Text 0"/>
          <p:cNvSpPr/>
          <p:nvPr>
            <p:ph idx="101" type="body" hasCustomPrompt="1"/>
          </p:nvPr>
        </p:nvSpPr>
        <p:spPr>
          <a:xfrm>
            <a:off x="475488" y="841248"/>
            <a:ext cx="11247120" cy="365760"/>
          </a:xfrm>
          <a:prstGeom prst="rect">
            <a:avLst/>
          </a:prstGeom>
          <a:noFill/>
          <a:ln/>
        </p:spPr>
        <p:txBody>
          <a:bodyPr wrap="square" lIns="0" tIns="0" rIns="0" bIns="0" rtlCol="0" anchor="t"/>
          <a:lstStyle/>
          <a:p>
            <a:pPr algn="l" indent="0" marL="0">
              <a:buNone/>
            </a:pPr>
            <a:r>
              <a:rPr lang="en-US" sz="1400" b="1" dirty="0">
                <a:solidFill>
                  <a:srgbClr val="7048E8"/>
                </a:solidFill>
              </a:rPr>
              <a:t>Erforderliche Übertragung</a:t>
            </a:r>
            <a:pPr algn="l" indent="0" marL="0">
              <a:buNone/>
            </a:pPr>
            <a:r>
              <a:rPr lang="en-US" sz="1400" dirty="0">
                <a:solidFill>
                  <a:srgbClr val="5F6B7A"/>
                </a:solidFill>
              </a:rPr>
              <a:t>: Jonas Neumann ist wirksam bestellt, für den Stellvertreter Daniel Becker fehlt die Bestellung.</a:t>
            </a:r>
            <a:endParaRPr lang="en-US" sz="1400" dirty="0"/>
          </a:p>
        </p:txBody>
      </p:sp>
      <p:sp>
        <p:nvSpPr>
          <p:cNvPr id="4" name="Shape 2"/>
          <p:cNvSpPr/>
          <p:nvPr/>
        </p:nvSpPr>
        <p:spPr>
          <a:xfrm>
            <a:off x="457200" y="1353312"/>
            <a:ext cx="3602736" cy="5099142"/>
          </a:xfrm>
          <a:prstGeom prst="rect">
            <a:avLst/>
          </a:prstGeom>
          <a:solidFill>
            <a:srgbClr val="FFFFFF"/>
          </a:solidFill>
          <a:ln w="9525">
            <a:solidFill>
              <a:srgbClr val="D5DBE3"/>
            </a:solidFill>
            <a:prstDash val="solid"/>
          </a:ln>
          <a:effectLst>
            <a:outerShdw sx="100000" sy="100000" kx="0" ky="0" algn="bl" rotWithShape="0" blurRad="50800" dist="19050" dir="5400000">
              <a:srgbClr val="000000">
                <a:alpha val="12000"/>
              </a:srgbClr>
            </a:outerShdw>
          </a:effectLst>
        </p:spPr>
      </p:sp>
      <p:pic>
        <p:nvPicPr>
          <p:cNvPr id="5" name="Image 0" descr="Maske Maske Rolle: Informationssicherheitsbeauftragter (RO-007), Ausschnitt 1">    </p:cNvPr>
          <p:cNvPicPr>
            <a:picLocks noChangeAspect="1"/>
          </p:cNvPicPr>
          <p:nvPr/>
        </p:nvPicPr>
        <p:blipFill>
          <a:blip r:embed="rId1"/>
          <a:stretch>
            <a:fillRect/>
          </a:stretch>
        </p:blipFill>
        <p:spPr>
          <a:xfrm>
            <a:off x="475488" y="1371600"/>
            <a:ext cx="3566160" cy="5062566"/>
          </a:xfrm>
          <a:prstGeom prst="rect">
            <a:avLst/>
          </a:prstGeom>
        </p:spPr>
      </p:pic>
      <p:sp>
        <p:nvSpPr>
          <p:cNvPr id="6" name="Shape 3"/>
          <p:cNvSpPr/>
          <p:nvPr/>
        </p:nvSpPr>
        <p:spPr>
          <a:xfrm>
            <a:off x="4297680" y="1353312"/>
            <a:ext cx="3602736" cy="4728063"/>
          </a:xfrm>
          <a:prstGeom prst="rect">
            <a:avLst/>
          </a:prstGeom>
          <a:solidFill>
            <a:srgbClr val="FFFFFF"/>
          </a:solidFill>
          <a:ln w="9525">
            <a:solidFill>
              <a:srgbClr val="D5DBE3"/>
            </a:solidFill>
            <a:prstDash val="solid"/>
          </a:ln>
          <a:effectLst>
            <a:outerShdw sx="100000" sy="100000" kx="0" ky="0" algn="bl" rotWithShape="0" blurRad="50800" dist="19050" dir="5400000">
              <a:srgbClr val="000000">
                <a:alpha val="12000"/>
              </a:srgbClr>
            </a:outerShdw>
          </a:effectLst>
        </p:spPr>
      </p:sp>
      <p:pic>
        <p:nvPicPr>
          <p:cNvPr id="7" name="Image 1" descr="Maske Maske Rolle: Informationssicherheitsbeauftragter (RO-007), Ausschnitt 2">    </p:cNvPr>
          <p:cNvPicPr>
            <a:picLocks noChangeAspect="1"/>
          </p:cNvPicPr>
          <p:nvPr/>
        </p:nvPicPr>
        <p:blipFill>
          <a:blip r:embed="rId2"/>
          <a:stretch>
            <a:fillRect/>
          </a:stretch>
        </p:blipFill>
        <p:spPr>
          <a:xfrm>
            <a:off x="4315968" y="1371600"/>
            <a:ext cx="3566160" cy="4691487"/>
          </a:xfrm>
          <a:prstGeom prst="rect">
            <a:avLst/>
          </a:prstGeom>
        </p:spPr>
      </p:pic>
      <p:sp>
        <p:nvSpPr>
          <p:cNvPr id="8" name="Shape 4"/>
          <p:cNvSpPr/>
          <p:nvPr/>
        </p:nvSpPr>
        <p:spPr>
          <a:xfrm>
            <a:off x="8138160" y="1353312"/>
            <a:ext cx="3602736" cy="2475089"/>
          </a:xfrm>
          <a:prstGeom prst="rect">
            <a:avLst/>
          </a:prstGeom>
          <a:solidFill>
            <a:srgbClr val="FFFFFF"/>
          </a:solidFill>
          <a:ln w="9525">
            <a:solidFill>
              <a:srgbClr val="D5DBE3"/>
            </a:solidFill>
            <a:prstDash val="solid"/>
          </a:ln>
          <a:effectLst>
            <a:outerShdw sx="100000" sy="100000" kx="0" ky="0" algn="bl" rotWithShape="0" blurRad="50800" dist="19050" dir="5400000">
              <a:srgbClr val="000000">
                <a:alpha val="12000"/>
              </a:srgbClr>
            </a:outerShdw>
          </a:effectLst>
        </p:spPr>
      </p:sp>
      <p:pic>
        <p:nvPicPr>
          <p:cNvPr id="9" name="Image 2" descr="Maske Maske Rolle: Informationssicherheitsbeauftragter (RO-007), Ausschnitt 3">    </p:cNvPr>
          <p:cNvPicPr>
            <a:picLocks noChangeAspect="1"/>
          </p:cNvPicPr>
          <p:nvPr/>
        </p:nvPicPr>
        <p:blipFill>
          <a:blip r:embed="rId3"/>
          <a:stretch>
            <a:fillRect/>
          </a:stretch>
        </p:blipFill>
        <p:spPr>
          <a:xfrm>
            <a:off x="8156448" y="1371600"/>
            <a:ext cx="3566160" cy="2438513"/>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75488" y="274320"/>
            <a:ext cx="11247120" cy="566928"/>
          </a:xfrm>
          <a:prstGeom prst="rect">
            <a:avLst/>
          </a:prstGeom>
          <a:noFill/>
          <a:ln/>
        </p:spPr>
        <p:txBody>
          <a:bodyPr wrap="square" lIns="0" tIns="0" rIns="0" bIns="0" rtlCol="0" anchor="ctr"/>
          <a:lstStyle/>
          <a:p>
            <a:pPr algn="l" indent="0" marL="0">
              <a:buNone/>
            </a:pPr>
            <a:r>
              <a:rPr lang="en-US" sz="3000" b="1" dirty="0">
                <a:solidFill>
                  <a:schemeClr val="tx2"/>
                </a:solidFill>
              </a:rPr>
              <a:t>Maske Übertragung: Pflichtendelegation Arbeitsschutz (DV-011)</a:t>
            </a:r>
            <a:endParaRPr lang="en-US" sz="3000" dirty="0"/>
          </a:p>
        </p:txBody>
      </p:sp>
      <p:sp>
        <p:nvSpPr>
          <p:cNvPr id="3" name="Text 0"/>
          <p:cNvSpPr/>
          <p:nvPr>
            <p:ph idx="101" type="body" hasCustomPrompt="1"/>
          </p:nvPr>
        </p:nvSpPr>
        <p:spPr>
          <a:xfrm>
            <a:off x="475488" y="841248"/>
            <a:ext cx="11247120" cy="365760"/>
          </a:xfrm>
          <a:prstGeom prst="rect">
            <a:avLst/>
          </a:prstGeom>
          <a:noFill/>
          <a:ln/>
        </p:spPr>
        <p:txBody>
          <a:bodyPr wrap="square" lIns="0" tIns="0" rIns="0" bIns="0" rtlCol="0" anchor="t"/>
          <a:lstStyle/>
          <a:p>
            <a:pPr algn="l" indent="0" marL="0">
              <a:buNone/>
            </a:pPr>
            <a:r>
              <a:rPr lang="en-US" sz="1400" b="1" dirty="0">
                <a:solidFill>
                  <a:srgbClr val="C2255C"/>
                </a:solidFill>
              </a:rPr>
              <a:t>Wirksam</a:t>
            </a:r>
            <a:pPr algn="l" indent="0" marL="0">
              <a:buNone/>
            </a:pPr>
            <a:r>
              <a:rPr lang="en-US" sz="1400" dirty="0">
                <a:solidFill>
                  <a:srgbClr val="5F6B7A"/>
                </a:solidFill>
              </a:rPr>
              <a:t> – schriftlich übertragen und angenommen. Aber: die Überwachung durch den Delegierenden ist seit Juni überfällig.</a:t>
            </a:r>
            <a:endParaRPr lang="en-US" sz="1400" dirty="0"/>
          </a:p>
        </p:txBody>
      </p:sp>
      <p:sp>
        <p:nvSpPr>
          <p:cNvPr id="4" name="Shape 2"/>
          <p:cNvSpPr/>
          <p:nvPr/>
        </p:nvSpPr>
        <p:spPr>
          <a:xfrm>
            <a:off x="457200" y="1353312"/>
            <a:ext cx="3602736" cy="4107833"/>
          </a:xfrm>
          <a:prstGeom prst="rect">
            <a:avLst/>
          </a:prstGeom>
          <a:solidFill>
            <a:srgbClr val="FFFFFF"/>
          </a:solidFill>
          <a:ln w="9525">
            <a:solidFill>
              <a:srgbClr val="D5DBE3"/>
            </a:solidFill>
            <a:prstDash val="solid"/>
          </a:ln>
          <a:effectLst>
            <a:outerShdw sx="100000" sy="100000" kx="0" ky="0" algn="bl" rotWithShape="0" blurRad="50800" dist="19050" dir="5400000">
              <a:srgbClr val="000000">
                <a:alpha val="12000"/>
              </a:srgbClr>
            </a:outerShdw>
          </a:effectLst>
        </p:spPr>
      </p:sp>
      <p:pic>
        <p:nvPicPr>
          <p:cNvPr id="5" name="Image 0" descr="Maske Maske Übertragung: Pflichtendelegation Arbeitsschutz (DV-011), Ausschnitt 1">    </p:cNvPr>
          <p:cNvPicPr>
            <a:picLocks noChangeAspect="1"/>
          </p:cNvPicPr>
          <p:nvPr/>
        </p:nvPicPr>
        <p:blipFill>
          <a:blip r:embed="rId1"/>
          <a:stretch>
            <a:fillRect/>
          </a:stretch>
        </p:blipFill>
        <p:spPr>
          <a:xfrm>
            <a:off x="475488" y="1371600"/>
            <a:ext cx="3566160" cy="4071257"/>
          </a:xfrm>
          <a:prstGeom prst="rect">
            <a:avLst/>
          </a:prstGeom>
        </p:spPr>
      </p:pic>
      <p:sp>
        <p:nvSpPr>
          <p:cNvPr id="6" name="Shape 3"/>
          <p:cNvSpPr/>
          <p:nvPr/>
        </p:nvSpPr>
        <p:spPr>
          <a:xfrm>
            <a:off x="4297680" y="1353312"/>
            <a:ext cx="3602736" cy="3180138"/>
          </a:xfrm>
          <a:prstGeom prst="rect">
            <a:avLst/>
          </a:prstGeom>
          <a:solidFill>
            <a:srgbClr val="FFFFFF"/>
          </a:solidFill>
          <a:ln w="9525">
            <a:solidFill>
              <a:srgbClr val="D5DBE3"/>
            </a:solidFill>
            <a:prstDash val="solid"/>
          </a:ln>
          <a:effectLst>
            <a:outerShdw sx="100000" sy="100000" kx="0" ky="0" algn="bl" rotWithShape="0" blurRad="50800" dist="19050" dir="5400000">
              <a:srgbClr val="000000">
                <a:alpha val="12000"/>
              </a:srgbClr>
            </a:outerShdw>
          </a:effectLst>
        </p:spPr>
      </p:sp>
      <p:pic>
        <p:nvPicPr>
          <p:cNvPr id="7" name="Image 1" descr="Maske Maske Übertragung: Pflichtendelegation Arbeitsschutz (DV-011), Ausschnitt 2">    </p:cNvPr>
          <p:cNvPicPr>
            <a:picLocks noChangeAspect="1"/>
          </p:cNvPicPr>
          <p:nvPr/>
        </p:nvPicPr>
        <p:blipFill>
          <a:blip r:embed="rId2"/>
          <a:stretch>
            <a:fillRect/>
          </a:stretch>
        </p:blipFill>
        <p:spPr>
          <a:xfrm>
            <a:off x="4315968" y="1371600"/>
            <a:ext cx="3566160" cy="3143562"/>
          </a:xfrm>
          <a:prstGeom prst="rect">
            <a:avLst/>
          </a:prstGeom>
        </p:spPr>
      </p:pic>
      <p:sp>
        <p:nvSpPr>
          <p:cNvPr id="8" name="Shape 4"/>
          <p:cNvSpPr/>
          <p:nvPr/>
        </p:nvSpPr>
        <p:spPr>
          <a:xfrm>
            <a:off x="8138160" y="1353312"/>
            <a:ext cx="3602736" cy="1377758"/>
          </a:xfrm>
          <a:prstGeom prst="rect">
            <a:avLst/>
          </a:prstGeom>
          <a:solidFill>
            <a:srgbClr val="FFFFFF"/>
          </a:solidFill>
          <a:ln w="9525">
            <a:solidFill>
              <a:srgbClr val="D5DBE3"/>
            </a:solidFill>
            <a:prstDash val="solid"/>
          </a:ln>
          <a:effectLst>
            <a:outerShdw sx="100000" sy="100000" kx="0" ky="0" algn="bl" rotWithShape="0" blurRad="50800" dist="19050" dir="5400000">
              <a:srgbClr val="000000">
                <a:alpha val="12000"/>
              </a:srgbClr>
            </a:outerShdw>
          </a:effectLst>
        </p:spPr>
      </p:sp>
      <p:pic>
        <p:nvPicPr>
          <p:cNvPr id="9" name="Image 2" descr="Maske Maske Übertragung: Pflichtendelegation Arbeitsschutz (DV-011), Ausschnitt 3">    </p:cNvPr>
          <p:cNvPicPr>
            <a:picLocks noChangeAspect="1"/>
          </p:cNvPicPr>
          <p:nvPr/>
        </p:nvPicPr>
        <p:blipFill>
          <a:blip r:embed="rId3"/>
          <a:stretch>
            <a:fillRect/>
          </a:stretch>
        </p:blipFill>
        <p:spPr>
          <a:xfrm>
            <a:off x="8156448" y="1371600"/>
            <a:ext cx="3566160" cy="1341182"/>
          </a:xfrm>
          <a:prstGeom prst="rect">
            <a:avLst/>
          </a:prstGeom>
        </p:spPr>
      </p:pic>
      <p:sp>
        <p:nvSpPr>
          <p:cNvPr id="10" name="Shape 5"/>
          <p:cNvSpPr/>
          <p:nvPr/>
        </p:nvSpPr>
        <p:spPr>
          <a:xfrm>
            <a:off x="8156448" y="3005390"/>
            <a:ext cx="3566160" cy="2103120"/>
          </a:xfrm>
          <a:prstGeom prst="roundRect">
            <a:avLst>
              <a:gd name="adj" fmla="val 4348"/>
            </a:avLst>
          </a:prstGeom>
          <a:solidFill>
            <a:srgbClr val="FCEEF3"/>
          </a:solidFill>
          <a:ln w="12700">
            <a:solidFill>
              <a:srgbClr val="C2255C"/>
            </a:solidFill>
            <a:prstDash val="solid"/>
          </a:ln>
        </p:spPr>
      </p:sp>
      <p:sp>
        <p:nvSpPr>
          <p:cNvPr id="11" name="Text 6"/>
          <p:cNvSpPr txBox="1"/>
          <p:nvPr/>
        </p:nvSpPr>
        <p:spPr>
          <a:xfrm>
            <a:off x="8293608" y="3115118"/>
            <a:ext cx="3291840" cy="1883664"/>
          </a:xfrm>
          <a:prstGeom prst="rect">
            <a:avLst/>
          </a:prstGeom>
          <a:noFill/>
          <a:ln/>
        </p:spPr>
        <p:txBody>
          <a:bodyPr wrap="square" lIns="635" tIns="635" rIns="635" bIns="635" rtlCol="0" anchor="t"/>
          <a:lstStyle/>
          <a:p>
            <a:pPr indent="0" marL="0">
              <a:spcAft>
                <a:spcPts val="600"/>
              </a:spcAft>
              <a:buNone/>
            </a:pPr>
            <a:r>
              <a:rPr lang="en-US" sz="1600" b="1" dirty="0">
                <a:solidFill>
                  <a:srgbClr val="C2255C"/>
                </a:solidFill>
              </a:rPr>
              <a:t>Darauf kommt es an</a:t>
            </a:r>
            <a:endParaRPr lang="en-US" sz="1600" dirty="0"/>
          </a:p>
          <a:p>
            <a:pPr marL="342900" indent="-342900">
              <a:spcAft>
                <a:spcPts val="600"/>
              </a:spcAft>
              <a:buSzPct val="100000"/>
              <a:buChar char="•"/>
            </a:pPr>
            <a:r>
              <a:rPr lang="en-US" sz="1400" dirty="0">
                <a:solidFill>
                  <a:srgbClr val="1F2933"/>
                </a:solidFill>
              </a:rPr>
              <a:t>Klar abgegrenzter Umfang mit Befugnissen und Budget</a:t>
            </a:r>
            <a:endParaRPr lang="en-US" sz="1600" dirty="0"/>
          </a:p>
          <a:p>
            <a:pPr marL="342900" indent="-342900">
              <a:spcAft>
                <a:spcPts val="600"/>
              </a:spcAft>
              <a:buSzPct val="100000"/>
              <a:buChar char="•"/>
            </a:pPr>
            <a:r>
              <a:rPr lang="en-US" sz="1400" dirty="0">
                <a:solidFill>
                  <a:srgbClr val="1F2933"/>
                </a:solidFill>
              </a:rPr>
              <a:t>Wirksam erst mit dokumentierter Annahme</a:t>
            </a:r>
            <a:endParaRPr lang="en-US" sz="1600" dirty="0"/>
          </a:p>
          <a:p>
            <a:pPr marL="342900" indent="-342900">
              <a:spcAft>
                <a:spcPts val="600"/>
              </a:spcAft>
              <a:buSzPct val="100000"/>
              <a:buChar char="•"/>
            </a:pPr>
            <a:r>
              <a:rPr lang="en-US" sz="1400" dirty="0">
                <a:solidFill>
                  <a:srgbClr val="1F2933"/>
                </a:solidFill>
              </a:rPr>
              <a:t>Überwachung bleibt beim Delegierenden (§ 130 OWiG)</a:t>
            </a:r>
            <a:endParaRPr lang="en-US" sz="16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GRC Studio">
  <a:themeElements>
    <a:clrScheme name="GRC Studio">
      <a:dk1>
        <a:srgbClr val="1F2933"/>
      </a:dk1>
      <a:lt1>
        <a:srgbClr val="FFFFFF"/>
      </a:lt1>
      <a:dk2>
        <a:srgbClr val="1B2A41"/>
      </a:dk2>
      <a:lt2>
        <a:srgbClr val="F3F5F8"/>
      </a:lt2>
      <a:accent1>
        <a:srgbClr val="495057"/>
      </a:accent1>
      <a:accent2>
        <a:srgbClr val="AE3EC9"/>
      </a:accent2>
      <a:accent3>
        <a:srgbClr val="7048E8"/>
      </a:accent3>
      <a:accent4>
        <a:srgbClr val="C2255C"/>
      </a:accent4>
      <a:accent5>
        <a:srgbClr val="0C8599"/>
      </a:accent5>
      <a:accent6>
        <a:srgbClr val="E8590C"/>
      </a:accent6>
      <a:hlink>
        <a:srgbClr val="1971C2"/>
      </a:hlink>
      <a:folHlink>
        <a:srgbClr val="7048E8"/>
      </a:folHlink>
    </a:clrScheme>
    <a:fontScheme name="GRC Studi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GRC Studio – Organisationsmodell</dc:title>
  <dc:subject>PptxGenJS Presentation</dc:subject>
  <dc:creator>PptxGenJS</dc:creator>
  <cp:lastModifiedBy>PptxGenJS</cp:lastModifiedBy>
  <cp:revision>1</cp:revision>
  <dcterms:created xsi:type="dcterms:W3CDTF">2026-10-30T08:06:29Z</dcterms:created>
  <dcterms:modified xsi:type="dcterms:W3CDTF">2026-10-30T08:06:29Z</dcterms:modified>
</cp:coreProperties>
</file>