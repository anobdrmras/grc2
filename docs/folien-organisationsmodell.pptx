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g Picture" id="{5269d934-5cc5-c06e-5ad9-4a9494e950e6}">
          <p14:sldIdLst>
            <p14:sldId id="256"/>
          </p14:sldIdLst>
        </p14:section>
        <p14:section name="Masken" id="{4bcff528-f4f8-ac65-1da3-5daedb68c6ac}">
          <p14:sldIdLst>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Rolle beschreibt abstrakt eine Pflicht, die Stelle bündelt Rollen und ordnet sie in die Hierarchie ein, die Person besetzt genau eine Stelle. Rechtswirksam wird eine Pflicht oder Vollmacht erst durch eine persönliche Übertragung an die Person – mit Annahme, Gültigkeit und Überwachung.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Stelle beschreibt Zweck, Aufgaben und Befugnisse der Position: Führung des Teams, Budget der Kostenstelle 4710 bis 50.000 EUR, Freigabe von Exportvorgängen. Disziplinarisch berichtet sie an Andreas Obermaier (Head of Legal &amp; Compliance), fachlich an die Geschäftsführung als Ausfuhrverantwortlichen. Die Stelle bündelt die Rollen Trade Compliance Beauftragter und Kostenstellenverantwortlicher; die Beauftragung DV-014 ist bei den Stelleninhabern als wirksam sichtbar.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Rolle beschreibt abstrakt, was ein Kostenstellenverantwortlicher tut und darf – unabhängig davon, welche Kostenstelle und welcher Betrag. Die konkreten Limits stehen im Kommentar an der jeweiligen Stelle bzw. als Freigabelimit der Stelle. Rollenverantwortlicher ist Torsten Blaschke (Leitung Controlling). Die Rolle ist mit Einkäufer unvereinbar (Funktionstrennung).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Ausfuhrverantwortliche (Mitglied der Geschäftsführung) bleibt gegenüber dem BAFA persönlich verantwortlich. Mit der Beauftragung überträgt er die operative Exportkontrolle an Karsten Eschamann: klar abgegrenzter Umfang, Befugnisse bis zum Lieferstopp, Budget der Kostenstelle 4710. Die Beauftragung ist schriftlich, angenommen und wird quartalsweise überwacht.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und Untertitel">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75488" y="274320"/>
            <a:ext cx="11247120" cy="56692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475488" y="841248"/>
            <a:ext cx="11247120" cy="365760"/>
          </a:xfrm>
          <a:prstGeom prst="rect">
            <a:avLst/>
          </a:prstGeom>
          <a:noFill/>
          <a:ln/>
        </p:spPr>
        <p:txBody>
          <a:bodyPr wrap="square" rtlCol="0"/>
          <a:lstStyle>
            <a:lvl1pPr algn="l" indent="0" marL="0">
              <a:buNone/>
              <a:defRPr lang="en-US" sz="1400" dirty="0">
                <a:solidFill>
                  <a:srgbClr val="5F6B7A"/>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75488" y="274320"/>
            <a:ext cx="11247120" cy="566928"/>
          </a:xfrm>
          <a:prstGeom prst="rect">
            <a:avLst/>
          </a:prstGeom>
          <a:noFill/>
          <a:ln/>
        </p:spPr>
        <p:txBody>
          <a:bodyPr wrap="square" lIns="0" tIns="0" rIns="0" bIns="0" rtlCol="0" anchor="ctr"/>
          <a:lstStyle/>
          <a:p>
            <a:pPr algn="l" indent="0" marL="0">
              <a:buNone/>
            </a:pPr>
            <a:r>
              <a:rPr lang="en-US" sz="3000" b="1" dirty="0">
                <a:solidFill>
                  <a:schemeClr val="tx2"/>
                </a:solidFill>
              </a:rPr>
              <a:t>Person, Stelle, Rolle und Übertragung</a:t>
            </a:r>
            <a:endParaRPr lang="en-US" sz="3000" dirty="0"/>
          </a:p>
        </p:txBody>
      </p:sp>
      <p:sp>
        <p:nvSpPr>
          <p:cNvPr id="3" name="Text 0"/>
          <p:cNvSpPr/>
          <p:nvPr>
            <p:ph idx="101" type="body" hasCustomPrompt="1"/>
          </p:nvPr>
        </p:nvSpPr>
        <p:spPr>
          <a:xfrm>
            <a:off x="475488" y="841248"/>
            <a:ext cx="11247120" cy="365760"/>
          </a:xfrm>
          <a:prstGeom prst="rect">
            <a:avLst/>
          </a:prstGeom>
          <a:noFill/>
          <a:ln/>
        </p:spPr>
        <p:txBody>
          <a:bodyPr wrap="square" lIns="0" tIns="0" rIns="0" bIns="0" rtlCol="0" anchor="t"/>
          <a:lstStyle/>
          <a:p>
            <a:pPr algn="l" indent="0" marL="0">
              <a:buNone/>
            </a:pPr>
            <a:r>
              <a:rPr lang="en-US" sz="1400" b="1" dirty="0">
                <a:solidFill>
                  <a:srgbClr val="7048E8"/>
                </a:solidFill>
              </a:rPr>
              <a:t>Rolle</a:t>
            </a:r>
            <a:pPr algn="l" indent="0" marL="0">
              <a:buNone/>
            </a:pPr>
            <a:r>
              <a:rPr lang="en-US" sz="1400" dirty="0">
                <a:solidFill>
                  <a:srgbClr val="5F6B7A"/>
                </a:solidFill>
              </a:rPr>
              <a:t> = was zu tun ist  ·  </a:t>
            </a:r>
            <a:pPr algn="l" indent="0" marL="0">
              <a:buNone/>
            </a:pPr>
            <a:r>
              <a:rPr lang="en-US" sz="1400" b="1" dirty="0">
                <a:solidFill>
                  <a:srgbClr val="AE3EC9"/>
                </a:solidFill>
              </a:rPr>
              <a:t>Stelle</a:t>
            </a:r>
            <a:pPr algn="l" indent="0" marL="0">
              <a:buNone/>
            </a:pPr>
            <a:r>
              <a:rPr lang="en-US" sz="1400" dirty="0">
                <a:solidFill>
                  <a:srgbClr val="5F6B7A"/>
                </a:solidFill>
              </a:rPr>
              <a:t> = wo es organisatorisch hängt  ·  </a:t>
            </a:r>
            <a:pPr algn="l" indent="0" marL="0">
              <a:buNone/>
            </a:pPr>
            <a:r>
              <a:rPr lang="en-US" sz="1400" b="1" dirty="0">
                <a:solidFill>
                  <a:srgbClr val="C2255C"/>
                </a:solidFill>
              </a:rPr>
              <a:t>Übertragung</a:t>
            </a:r>
            <a:pPr algn="l" indent="0" marL="0">
              <a:buNone/>
            </a:pPr>
            <a:r>
              <a:rPr lang="en-US" sz="1400" dirty="0">
                <a:solidFill>
                  <a:srgbClr val="5F6B7A"/>
                </a:solidFill>
              </a:rPr>
              <a:t> = wer es persönlich und rechtswirksam übernommen hat</a:t>
            </a:r>
            <a:endParaRPr lang="en-US" sz="1400" dirty="0"/>
          </a:p>
        </p:txBody>
      </p:sp>
      <p:sp>
        <p:nvSpPr>
          <p:cNvPr id="4" name="Kasten Person"/>
          <p:cNvSpPr/>
          <p:nvPr/>
        </p:nvSpPr>
        <p:spPr>
          <a:xfrm>
            <a:off x="475488" y="1463040"/>
            <a:ext cx="3063240" cy="2103120"/>
          </a:xfrm>
          <a:prstGeom prst="roundRect">
            <a:avLst>
              <a:gd name="adj" fmla="val 5217"/>
            </a:avLst>
          </a:prstGeom>
          <a:solidFill>
            <a:srgbClr val="F1F3F5"/>
          </a:solidFill>
          <a:ln w="19050">
            <a:solidFill>
              <a:srgbClr val="495057"/>
            </a:solidFill>
            <a:prstDash val="solid"/>
          </a:ln>
        </p:spPr>
      </p:sp>
      <p:sp>
        <p:nvSpPr>
          <p:cNvPr id="5" name="Text Person"/>
          <p:cNvSpPr txBox="1"/>
          <p:nvPr/>
        </p:nvSpPr>
        <p:spPr>
          <a:xfrm>
            <a:off x="612648" y="1554480"/>
            <a:ext cx="2788920" cy="1920240"/>
          </a:xfrm>
          <a:prstGeom prst="rect">
            <a:avLst/>
          </a:prstGeom>
          <a:noFill/>
          <a:ln/>
        </p:spPr>
        <p:txBody>
          <a:bodyPr wrap="square" lIns="635" tIns="635" rIns="635" bIns="635" rtlCol="0" anchor="t"/>
          <a:lstStyle/>
          <a:p>
            <a:pPr indent="0" marL="0">
              <a:buNone/>
            </a:pPr>
            <a:r>
              <a:rPr lang="en-US" sz="2000" b="1" dirty="0">
                <a:solidFill>
                  <a:srgbClr val="495057"/>
                </a:solidFill>
              </a:rPr>
              <a:t>Person</a:t>
            </a:r>
            <a:endParaRPr lang="en-US" sz="2000" dirty="0"/>
          </a:p>
          <a:p>
            <a:pPr indent="0" marL="0">
              <a:spcAft>
                <a:spcPts val="600"/>
              </a:spcAft>
              <a:buNone/>
            </a:pPr>
            <a:r>
              <a:rPr lang="en-US" sz="1200" i="1" dirty="0">
                <a:solidFill>
                  <a:srgbClr val="5F6B7A"/>
                </a:solidFill>
              </a:rPr>
              <a:t>Arbeitsvertrag · Benutzer</a:t>
            </a:r>
            <a:endParaRPr lang="en-US" sz="2000" dirty="0"/>
          </a:p>
          <a:p>
            <a:pPr marL="342900" indent="-342900">
              <a:spcAft>
                <a:spcPts val="300"/>
              </a:spcAft>
              <a:buSzPct val="100000"/>
              <a:buChar char="•"/>
            </a:pPr>
            <a:r>
              <a:rPr lang="en-US" sz="1400" dirty="0">
                <a:solidFill>
                  <a:srgbClr val="1F2933"/>
                </a:solidFill>
              </a:rPr>
              <a:t>Vertrag (Verweis ins HR-System)</a:t>
            </a:r>
            <a:endParaRPr lang="en-US" sz="2000" dirty="0"/>
          </a:p>
          <a:p>
            <a:pPr marL="342900" indent="-342900">
              <a:spcAft>
                <a:spcPts val="300"/>
              </a:spcAft>
              <a:buSzPct val="100000"/>
              <a:buChar char="•"/>
            </a:pPr>
            <a:r>
              <a:rPr lang="en-US" sz="1400" dirty="0">
                <a:solidFill>
                  <a:srgbClr val="1F2933"/>
                </a:solidFill>
              </a:rPr>
              <a:t>Befristung / Austritt</a:t>
            </a:r>
            <a:endParaRPr lang="en-US" sz="2000" dirty="0"/>
          </a:p>
          <a:p>
            <a:pPr marL="342900" indent="-342900">
              <a:spcAft>
                <a:spcPts val="300"/>
              </a:spcAft>
              <a:buSzPct val="100000"/>
              <a:buChar char="•"/>
            </a:pPr>
            <a:r>
              <a:rPr lang="en-US" sz="1400" dirty="0">
                <a:solidFill>
                  <a:srgbClr val="1F2933"/>
                </a:solidFill>
              </a:rPr>
              <a:t>Kenntnisnahme Stellenbeschreibung</a:t>
            </a:r>
            <a:endParaRPr lang="en-US" sz="2000" dirty="0"/>
          </a:p>
          <a:p>
            <a:pPr marL="342900" indent="-342900">
              <a:spcAft>
                <a:spcPts val="300"/>
              </a:spcAft>
              <a:buSzPct val="100000"/>
              <a:buChar char="•"/>
            </a:pPr>
            <a:r>
              <a:rPr lang="en-US" sz="1400" dirty="0">
                <a:solidFill>
                  <a:srgbClr val="1F2933"/>
                </a:solidFill>
              </a:rPr>
              <a:t>Vertraulichkeit, Verhaltenskodex</a:t>
            </a:r>
            <a:endParaRPr lang="en-US" sz="2000" dirty="0"/>
          </a:p>
        </p:txBody>
      </p:sp>
      <p:sp>
        <p:nvSpPr>
          <p:cNvPr id="6" name="Kasten Stelle"/>
          <p:cNvSpPr/>
          <p:nvPr/>
        </p:nvSpPr>
        <p:spPr>
          <a:xfrm>
            <a:off x="4562856" y="1463040"/>
            <a:ext cx="3063240" cy="2103120"/>
          </a:xfrm>
          <a:prstGeom prst="roundRect">
            <a:avLst>
              <a:gd name="adj" fmla="val 5217"/>
            </a:avLst>
          </a:prstGeom>
          <a:solidFill>
            <a:srgbClr val="F8EEFB"/>
          </a:solidFill>
          <a:ln w="19050">
            <a:solidFill>
              <a:srgbClr val="AE3EC9"/>
            </a:solidFill>
            <a:prstDash val="solid"/>
          </a:ln>
        </p:spPr>
      </p:sp>
      <p:sp>
        <p:nvSpPr>
          <p:cNvPr id="7" name="Text Stelle"/>
          <p:cNvSpPr txBox="1"/>
          <p:nvPr/>
        </p:nvSpPr>
        <p:spPr>
          <a:xfrm>
            <a:off x="4700016" y="1554480"/>
            <a:ext cx="2788920" cy="1920240"/>
          </a:xfrm>
          <a:prstGeom prst="rect">
            <a:avLst/>
          </a:prstGeom>
          <a:noFill/>
          <a:ln/>
        </p:spPr>
        <p:txBody>
          <a:bodyPr wrap="square" lIns="635" tIns="635" rIns="635" bIns="635" rtlCol="0" anchor="t"/>
          <a:lstStyle/>
          <a:p>
            <a:pPr indent="0" marL="0">
              <a:buNone/>
            </a:pPr>
            <a:r>
              <a:rPr lang="en-US" sz="2000" b="1" dirty="0">
                <a:solidFill>
                  <a:srgbClr val="AE3EC9"/>
                </a:solidFill>
              </a:rPr>
              <a:t>Stelle</a:t>
            </a:r>
            <a:endParaRPr lang="en-US" sz="2000" dirty="0"/>
          </a:p>
          <a:p>
            <a:pPr indent="0" marL="0">
              <a:spcAft>
                <a:spcPts val="600"/>
              </a:spcAft>
              <a:buNone/>
            </a:pPr>
            <a:r>
              <a:rPr lang="en-US" sz="1200" i="1" dirty="0">
                <a:solidFill>
                  <a:srgbClr val="5F6B7A"/>
                </a:solidFill>
              </a:rPr>
              <a:t>Position in der Organisation</a:t>
            </a:r>
            <a:endParaRPr lang="en-US" sz="2000" dirty="0"/>
          </a:p>
          <a:p>
            <a:pPr marL="342900" indent="-342900">
              <a:spcAft>
                <a:spcPts val="300"/>
              </a:spcAft>
              <a:buSzPct val="100000"/>
              <a:buChar char="•"/>
            </a:pPr>
            <a:r>
              <a:rPr lang="en-US" sz="1400" dirty="0">
                <a:solidFill>
                  <a:srgbClr val="1F2933"/>
                </a:solidFill>
              </a:rPr>
              <a:t>Stellenbeschreibung, Hierarchie</a:t>
            </a:r>
            <a:endParaRPr lang="en-US" sz="2000" dirty="0"/>
          </a:p>
          <a:p>
            <a:pPr marL="342900" indent="-342900">
              <a:spcAft>
                <a:spcPts val="300"/>
              </a:spcAft>
              <a:buSzPct val="100000"/>
              <a:buChar char="•"/>
            </a:pPr>
            <a:r>
              <a:rPr lang="en-US" sz="1400" dirty="0">
                <a:solidFill>
                  <a:srgbClr val="1F2933"/>
                </a:solidFill>
              </a:rPr>
              <a:t>Befugnisse der Stelle (Weisung, Budget)</a:t>
            </a:r>
            <a:endParaRPr lang="en-US" sz="2000" dirty="0"/>
          </a:p>
          <a:p>
            <a:pPr marL="342900" indent="-342900">
              <a:spcAft>
                <a:spcPts val="300"/>
              </a:spcAft>
              <a:buSzPct val="100000"/>
              <a:buChar char="•"/>
            </a:pPr>
            <a:r>
              <a:rPr lang="en-US" sz="1400" dirty="0">
                <a:solidFill>
                  <a:srgbClr val="1F2933"/>
                </a:solidFill>
              </a:rPr>
              <a:t>Soll-Vollmacht, Freigabelimit</a:t>
            </a:r>
            <a:endParaRPr lang="en-US" sz="2000" dirty="0"/>
          </a:p>
          <a:p>
            <a:pPr marL="342900" indent="-342900">
              <a:spcAft>
                <a:spcPts val="300"/>
              </a:spcAft>
              <a:buSzPct val="100000"/>
              <a:buChar char="•"/>
            </a:pPr>
            <a:r>
              <a:rPr lang="en-US" sz="1400" dirty="0">
                <a:solidFill>
                  <a:srgbClr val="1F2933"/>
                </a:solidFill>
              </a:rPr>
              <a:t>Vertretung</a:t>
            </a:r>
            <a:endParaRPr lang="en-US" sz="2000" dirty="0"/>
          </a:p>
        </p:txBody>
      </p:sp>
      <p:sp>
        <p:nvSpPr>
          <p:cNvPr id="8" name="Kasten Rolle"/>
          <p:cNvSpPr/>
          <p:nvPr/>
        </p:nvSpPr>
        <p:spPr>
          <a:xfrm>
            <a:off x="8659368" y="1463040"/>
            <a:ext cx="3063240" cy="2103120"/>
          </a:xfrm>
          <a:prstGeom prst="roundRect">
            <a:avLst>
              <a:gd name="adj" fmla="val 5217"/>
            </a:avLst>
          </a:prstGeom>
          <a:solidFill>
            <a:srgbClr val="F1EDFD"/>
          </a:solidFill>
          <a:ln w="19050">
            <a:solidFill>
              <a:srgbClr val="7048E8"/>
            </a:solidFill>
            <a:prstDash val="solid"/>
          </a:ln>
        </p:spPr>
      </p:sp>
      <p:sp>
        <p:nvSpPr>
          <p:cNvPr id="9" name="Text Rolle"/>
          <p:cNvSpPr txBox="1"/>
          <p:nvPr/>
        </p:nvSpPr>
        <p:spPr>
          <a:xfrm>
            <a:off x="8796528" y="1554480"/>
            <a:ext cx="2788920" cy="1920240"/>
          </a:xfrm>
          <a:prstGeom prst="rect">
            <a:avLst/>
          </a:prstGeom>
          <a:noFill/>
          <a:ln/>
        </p:spPr>
        <p:txBody>
          <a:bodyPr wrap="square" lIns="635" tIns="635" rIns="635" bIns="635" rtlCol="0" anchor="t"/>
          <a:lstStyle/>
          <a:p>
            <a:pPr indent="0" marL="0">
              <a:buNone/>
            </a:pPr>
            <a:r>
              <a:rPr lang="en-US" sz="2000" b="1" dirty="0">
                <a:solidFill>
                  <a:srgbClr val="7048E8"/>
                </a:solidFill>
              </a:rPr>
              <a:t>Rolle</a:t>
            </a:r>
            <a:endParaRPr lang="en-US" sz="2000" dirty="0"/>
          </a:p>
          <a:p>
            <a:pPr indent="0" marL="0">
              <a:spcAft>
                <a:spcPts val="600"/>
              </a:spcAft>
              <a:buNone/>
            </a:pPr>
            <a:r>
              <a:rPr lang="en-US" sz="1200" i="1" dirty="0">
                <a:solidFill>
                  <a:srgbClr val="5F6B7A"/>
                </a:solidFill>
              </a:rPr>
              <a:t>Pflicht im Managementsystem</a:t>
            </a:r>
            <a:endParaRPr lang="en-US" sz="2000" dirty="0"/>
          </a:p>
          <a:p>
            <a:pPr marL="342900" indent="-342900">
              <a:spcAft>
                <a:spcPts val="300"/>
              </a:spcAft>
              <a:buSzPct val="100000"/>
              <a:buChar char="•"/>
            </a:pPr>
            <a:r>
              <a:rPr lang="en-US" sz="1400" dirty="0">
                <a:solidFill>
                  <a:srgbClr val="1F2933"/>
                </a:solidFill>
              </a:rPr>
              <a:t>Verantwortlichkeiten, RACI</a:t>
            </a:r>
            <a:endParaRPr lang="en-US" sz="2000" dirty="0"/>
          </a:p>
          <a:p>
            <a:pPr marL="342900" indent="-342900">
              <a:spcAft>
                <a:spcPts val="300"/>
              </a:spcAft>
              <a:buSzPct val="100000"/>
              <a:buChar char="•"/>
            </a:pPr>
            <a:r>
              <a:rPr lang="en-US" sz="1400" dirty="0">
                <a:solidFill>
                  <a:srgbClr val="1F2933"/>
                </a:solidFill>
              </a:rPr>
              <a:t>Funktionale Befugnisse</a:t>
            </a:r>
            <a:endParaRPr lang="en-US" sz="2000" dirty="0"/>
          </a:p>
          <a:p>
            <a:pPr marL="342900" indent="-342900">
              <a:spcAft>
                <a:spcPts val="300"/>
              </a:spcAft>
              <a:buSzPct val="100000"/>
              <a:buChar char="•"/>
            </a:pPr>
            <a:r>
              <a:rPr lang="en-US" sz="1400" dirty="0">
                <a:solidFill>
                  <a:srgbClr val="1F2933"/>
                </a:solidFill>
              </a:rPr>
              <a:t>Funktionstrennung</a:t>
            </a:r>
            <a:endParaRPr lang="en-US" sz="2000" dirty="0"/>
          </a:p>
          <a:p>
            <a:pPr marL="342900" indent="-342900">
              <a:spcAft>
                <a:spcPts val="300"/>
              </a:spcAft>
              <a:buSzPct val="100000"/>
              <a:buChar char="•"/>
            </a:pPr>
            <a:r>
              <a:rPr lang="en-US" sz="1400" dirty="0">
                <a:solidFill>
                  <a:srgbClr val="1F2933"/>
                </a:solidFill>
              </a:rPr>
              <a:t>Erforderliche Übertragung</a:t>
            </a:r>
            <a:endParaRPr lang="en-US" sz="2000" dirty="0"/>
          </a:p>
        </p:txBody>
      </p:sp>
      <p:sp>
        <p:nvSpPr>
          <p:cNvPr id="10" name="Shape 8"/>
          <p:cNvSpPr/>
          <p:nvPr/>
        </p:nvSpPr>
        <p:spPr>
          <a:xfrm>
            <a:off x="3538728" y="2514600"/>
            <a:ext cx="1024128" cy="0"/>
          </a:xfrm>
          <a:prstGeom prst="line">
            <a:avLst/>
          </a:prstGeom>
          <a:noFill/>
          <a:ln w="22225">
            <a:solidFill>
              <a:schemeClr val="tx2"/>
            </a:solidFill>
            <a:prstDash val="solid"/>
            <a:tailEnd type="triangle"/>
          </a:ln>
        </p:spPr>
      </p:sp>
      <p:sp>
        <p:nvSpPr>
          <p:cNvPr id="11" name="Text 9"/>
          <p:cNvSpPr txBox="1"/>
          <p:nvPr/>
        </p:nvSpPr>
        <p:spPr>
          <a:xfrm>
            <a:off x="3493008" y="1947672"/>
            <a:ext cx="1115568" cy="512064"/>
          </a:xfrm>
          <a:prstGeom prst="rect">
            <a:avLst/>
          </a:prstGeom>
          <a:noFill/>
          <a:ln/>
        </p:spPr>
        <p:txBody>
          <a:bodyPr wrap="square" lIns="0" tIns="0" rIns="0" bIns="0" rtlCol="0" anchor="b"/>
          <a:lstStyle/>
          <a:p>
            <a:pPr algn="ctr" indent="0" marL="0">
              <a:buNone/>
            </a:pPr>
            <a:r>
              <a:rPr lang="en-US" sz="1100" dirty="0">
                <a:solidFill>
                  <a:schemeClr val="tx2"/>
                </a:solidFill>
              </a:rPr>
              <a:t>hat genau eine</a:t>
            </a:r>
            <a:endParaRPr lang="en-US" sz="1100" dirty="0"/>
          </a:p>
        </p:txBody>
      </p:sp>
      <p:sp>
        <p:nvSpPr>
          <p:cNvPr id="12" name="Shape 10"/>
          <p:cNvSpPr/>
          <p:nvPr/>
        </p:nvSpPr>
        <p:spPr>
          <a:xfrm>
            <a:off x="7626096" y="2514600"/>
            <a:ext cx="1033272" cy="0"/>
          </a:xfrm>
          <a:prstGeom prst="line">
            <a:avLst/>
          </a:prstGeom>
          <a:noFill/>
          <a:ln w="22225">
            <a:solidFill>
              <a:schemeClr val="tx2"/>
            </a:solidFill>
            <a:prstDash val="solid"/>
            <a:tailEnd type="triangle"/>
          </a:ln>
        </p:spPr>
      </p:sp>
      <p:sp>
        <p:nvSpPr>
          <p:cNvPr id="13" name="Text 11"/>
          <p:cNvSpPr txBox="1"/>
          <p:nvPr/>
        </p:nvSpPr>
        <p:spPr>
          <a:xfrm>
            <a:off x="7580376" y="1947672"/>
            <a:ext cx="1124712" cy="512064"/>
          </a:xfrm>
          <a:prstGeom prst="rect">
            <a:avLst/>
          </a:prstGeom>
          <a:noFill/>
          <a:ln/>
        </p:spPr>
        <p:txBody>
          <a:bodyPr wrap="square" lIns="0" tIns="0" rIns="0" bIns="0" rtlCol="0" anchor="b"/>
          <a:lstStyle/>
          <a:p>
            <a:pPr algn="ctr" indent="0" marL="0">
              <a:buNone/>
            </a:pPr>
            <a:r>
              <a:rPr lang="en-US" sz="1100" dirty="0">
                <a:solidFill>
                  <a:schemeClr val="tx2"/>
                </a:solidFill>
              </a:rPr>
              <a:t>bündelt n Rollen (mit Kommentar)</a:t>
            </a:r>
            <a:endParaRPr lang="en-US" sz="1100" dirty="0"/>
          </a:p>
        </p:txBody>
      </p:sp>
      <p:sp>
        <p:nvSpPr>
          <p:cNvPr id="14" name="Kasten Übertragung"/>
          <p:cNvSpPr/>
          <p:nvPr/>
        </p:nvSpPr>
        <p:spPr>
          <a:xfrm>
            <a:off x="475488" y="4389120"/>
            <a:ext cx="11247120" cy="1325880"/>
          </a:xfrm>
          <a:prstGeom prst="roundRect">
            <a:avLst>
              <a:gd name="adj" fmla="val 8276"/>
            </a:avLst>
          </a:prstGeom>
          <a:solidFill>
            <a:srgbClr val="FCEEF3"/>
          </a:solidFill>
          <a:ln w="19050">
            <a:solidFill>
              <a:srgbClr val="C2255C"/>
            </a:solidFill>
            <a:prstDash val="solid"/>
          </a:ln>
        </p:spPr>
      </p:sp>
      <p:sp>
        <p:nvSpPr>
          <p:cNvPr id="15" name="Text Übertragung"/>
          <p:cNvSpPr txBox="1"/>
          <p:nvPr/>
        </p:nvSpPr>
        <p:spPr>
          <a:xfrm>
            <a:off x="612648" y="4462272"/>
            <a:ext cx="10972800" cy="1179576"/>
          </a:xfrm>
          <a:prstGeom prst="rect">
            <a:avLst/>
          </a:prstGeom>
          <a:noFill/>
          <a:ln/>
        </p:spPr>
        <p:txBody>
          <a:bodyPr wrap="square" lIns="635" tIns="635" rIns="635" bIns="635" rtlCol="0" anchor="ctr"/>
          <a:lstStyle/>
          <a:p>
            <a:pPr indent="0" marL="0">
              <a:buNone/>
            </a:pPr>
            <a:r>
              <a:rPr lang="en-US" sz="2000" b="1" dirty="0">
                <a:solidFill>
                  <a:srgbClr val="C2255C"/>
                </a:solidFill>
              </a:rPr>
              <a:t>Übertragung (Delegationen &amp; Vollmachten)</a:t>
            </a:r>
            <a:endParaRPr lang="en-US" sz="2000" dirty="0"/>
          </a:p>
          <a:p>
            <a:pPr indent="0" marL="0">
              <a:buNone/>
            </a:pPr>
            <a:r>
              <a:rPr lang="en-US" sz="1400" dirty="0">
                <a:solidFill>
                  <a:srgbClr val="1F2933"/>
                </a:solidFill>
              </a:rPr>
              <a:t>Bestellung/Benennung · Pflichtendelegation · Prokura · Handlungsvollmacht · Bankvollmacht · Freigabebefugnis · Stellvertretung</a:t>
            </a:r>
            <a:endParaRPr lang="en-US" sz="2000" dirty="0"/>
          </a:p>
          <a:p>
            <a:pPr indent="0" marL="0">
              <a:buNone/>
            </a:pPr>
            <a:r>
              <a:rPr lang="en-US" sz="1400" dirty="0">
                <a:solidFill>
                  <a:srgbClr val="1F2933"/>
                </a:solidFill>
              </a:rPr>
              <a:t>Erteilt durch GF oder Gremium · wirksam erst, wenn erteilt, gültig und vom Empfänger angenommen · Überwachung durch den Delegierenden</a:t>
            </a:r>
            <a:endParaRPr lang="en-US" sz="2000" dirty="0"/>
          </a:p>
        </p:txBody>
      </p:sp>
      <p:sp>
        <p:nvSpPr>
          <p:cNvPr id="16" name="Shape 14"/>
          <p:cNvSpPr/>
          <p:nvPr/>
        </p:nvSpPr>
        <p:spPr>
          <a:xfrm>
            <a:off x="2007108" y="3566160"/>
            <a:ext cx="0" cy="822960"/>
          </a:xfrm>
          <a:prstGeom prst="line">
            <a:avLst/>
          </a:prstGeom>
          <a:noFill/>
          <a:ln w="22225">
            <a:solidFill>
              <a:srgbClr val="C2255C"/>
            </a:solidFill>
            <a:prstDash val="solid"/>
            <a:headEnd type="triangle"/>
          </a:ln>
        </p:spPr>
      </p:sp>
      <p:sp>
        <p:nvSpPr>
          <p:cNvPr id="17" name="Text 15"/>
          <p:cNvSpPr txBox="1"/>
          <p:nvPr/>
        </p:nvSpPr>
        <p:spPr>
          <a:xfrm>
            <a:off x="2116836" y="3675888"/>
            <a:ext cx="2651760" cy="548640"/>
          </a:xfrm>
          <a:prstGeom prst="rect">
            <a:avLst/>
          </a:prstGeom>
          <a:noFill/>
          <a:ln/>
        </p:spPr>
        <p:txBody>
          <a:bodyPr wrap="square" lIns="0" tIns="0" rIns="0" bIns="0" rtlCol="0" anchor="ctr"/>
          <a:lstStyle/>
          <a:p>
            <a:pPr algn="l" indent="0" marL="0">
              <a:buNone/>
            </a:pPr>
            <a:r>
              <a:rPr lang="en-US" sz="1100" dirty="0">
                <a:solidFill>
                  <a:srgbClr val="C2255C"/>
                </a:solidFill>
              </a:rPr>
              <a:t>Empfänger: genau eine Person</a:t>
            </a:r>
            <a:endParaRPr lang="en-US" sz="1100" dirty="0"/>
          </a:p>
        </p:txBody>
      </p:sp>
      <p:sp>
        <p:nvSpPr>
          <p:cNvPr id="18" name="Shape 16"/>
          <p:cNvSpPr/>
          <p:nvPr/>
        </p:nvSpPr>
        <p:spPr>
          <a:xfrm>
            <a:off x="6094476" y="3566160"/>
            <a:ext cx="0" cy="822960"/>
          </a:xfrm>
          <a:prstGeom prst="line">
            <a:avLst/>
          </a:prstGeom>
          <a:noFill/>
          <a:ln w="22225">
            <a:solidFill>
              <a:srgbClr val="C2255C"/>
            </a:solidFill>
            <a:prstDash val="solid"/>
            <a:headEnd type="triangle"/>
          </a:ln>
        </p:spPr>
      </p:sp>
      <p:sp>
        <p:nvSpPr>
          <p:cNvPr id="19" name="Text 17"/>
          <p:cNvSpPr txBox="1"/>
          <p:nvPr/>
        </p:nvSpPr>
        <p:spPr>
          <a:xfrm>
            <a:off x="6204204" y="3675888"/>
            <a:ext cx="2651760" cy="548640"/>
          </a:xfrm>
          <a:prstGeom prst="rect">
            <a:avLst/>
          </a:prstGeom>
          <a:noFill/>
          <a:ln/>
        </p:spPr>
        <p:txBody>
          <a:bodyPr wrap="square" lIns="0" tIns="0" rIns="0" bIns="0" rtlCol="0" anchor="ctr"/>
          <a:lstStyle/>
          <a:p>
            <a:pPr algn="l" indent="0" marL="0">
              <a:buNone/>
            </a:pPr>
            <a:r>
              <a:rPr lang="en-US" sz="1100" dirty="0">
                <a:solidFill>
                  <a:srgbClr val="C2255C"/>
                </a:solidFill>
              </a:rPr>
              <a:t>Bezug: Stelle (z. B. Prokura)</a:t>
            </a:r>
            <a:endParaRPr lang="en-US" sz="1100" dirty="0"/>
          </a:p>
        </p:txBody>
      </p:sp>
      <p:sp>
        <p:nvSpPr>
          <p:cNvPr id="20" name="Shape 18"/>
          <p:cNvSpPr/>
          <p:nvPr/>
        </p:nvSpPr>
        <p:spPr>
          <a:xfrm>
            <a:off x="10190988" y="3566160"/>
            <a:ext cx="0" cy="822960"/>
          </a:xfrm>
          <a:prstGeom prst="line">
            <a:avLst/>
          </a:prstGeom>
          <a:noFill/>
          <a:ln w="22225">
            <a:solidFill>
              <a:srgbClr val="C2255C"/>
            </a:solidFill>
            <a:prstDash val="solid"/>
            <a:headEnd type="triangle"/>
          </a:ln>
        </p:spPr>
      </p:sp>
      <p:sp>
        <p:nvSpPr>
          <p:cNvPr id="21" name="Text 19"/>
          <p:cNvSpPr txBox="1"/>
          <p:nvPr/>
        </p:nvSpPr>
        <p:spPr>
          <a:xfrm>
            <a:off x="7429500" y="3675888"/>
            <a:ext cx="2651760" cy="548640"/>
          </a:xfrm>
          <a:prstGeom prst="rect">
            <a:avLst/>
          </a:prstGeom>
          <a:noFill/>
          <a:ln/>
        </p:spPr>
        <p:txBody>
          <a:bodyPr wrap="square" lIns="0" tIns="0" rIns="0" bIns="0" rtlCol="0" anchor="ctr"/>
          <a:lstStyle/>
          <a:p>
            <a:pPr algn="r" indent="0" marL="0">
              <a:buNone/>
            </a:pPr>
            <a:r>
              <a:rPr lang="en-US" sz="1100" dirty="0">
                <a:solidFill>
                  <a:srgbClr val="C2255C"/>
                </a:solidFill>
              </a:rPr>
              <a:t>Bezug: Rolle (z. B. Trade Compliance)</a:t>
            </a:r>
            <a:endParaRPr lang="en-US" sz="1100" dirty="0"/>
          </a:p>
        </p:txBody>
      </p:sp>
      <p:sp>
        <p:nvSpPr>
          <p:cNvPr id="22" name="Text 20"/>
          <p:cNvSpPr txBox="1"/>
          <p:nvPr/>
        </p:nvSpPr>
        <p:spPr>
          <a:xfrm>
            <a:off x="475488" y="5943600"/>
            <a:ext cx="10607040" cy="365760"/>
          </a:xfrm>
          <a:prstGeom prst="rect">
            <a:avLst/>
          </a:prstGeom>
          <a:noFill/>
          <a:ln/>
        </p:spPr>
        <p:txBody>
          <a:bodyPr wrap="square" lIns="0" tIns="0" rIns="0" bIns="0" rtlCol="0" anchor="ctr"/>
          <a:lstStyle/>
          <a:p>
            <a:pPr indent="0" marL="0">
              <a:buNone/>
            </a:pPr>
            <a:r>
              <a:rPr lang="en-US" sz="1200" b="1" dirty="0">
                <a:solidFill>
                  <a:srgbClr val="5F6B7A"/>
                </a:solidFill>
              </a:rPr>
              <a:t>Beispiel: </a:t>
            </a:r>
            <a:pPr indent="0" marL="0">
              <a:buNone/>
            </a:pPr>
            <a:r>
              <a:rPr lang="en-US" sz="1200" dirty="0">
                <a:solidFill>
                  <a:srgbClr val="5F6B7A"/>
                </a:solidFill>
              </a:rPr>
              <a:t>Karsten Eschamann → Stelle „Director Export Control &amp; Customs“ → Rollen „Trade Compliance Beauftragter“, „Kostenstellenverantwortlicher“ → Beauftragung DV-014 durch Konrad Garhammer (GF / Ausfuhrverantwortlicher)</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75488" y="274320"/>
            <a:ext cx="11247120" cy="566928"/>
          </a:xfrm>
          <a:prstGeom prst="rect">
            <a:avLst/>
          </a:prstGeom>
          <a:noFill/>
          <a:ln/>
        </p:spPr>
        <p:txBody>
          <a:bodyPr wrap="square" lIns="0" tIns="0" rIns="0" bIns="0" rtlCol="0" anchor="ctr"/>
          <a:lstStyle/>
          <a:p>
            <a:pPr algn="l" indent="0" marL="0">
              <a:buNone/>
            </a:pPr>
            <a:r>
              <a:rPr lang="en-US" sz="3000" b="1" dirty="0">
                <a:solidFill>
                  <a:schemeClr val="tx2"/>
                </a:solidFill>
              </a:rPr>
              <a:t>Maske Stelle: Director Export Control &amp; Customs (ST-014)</a:t>
            </a:r>
            <a:endParaRPr lang="en-US" sz="3000" dirty="0"/>
          </a:p>
        </p:txBody>
      </p:sp>
      <p:sp>
        <p:nvSpPr>
          <p:cNvPr id="3" name="Text 0"/>
          <p:cNvSpPr/>
          <p:nvPr>
            <p:ph idx="101" type="body" hasCustomPrompt="1"/>
          </p:nvPr>
        </p:nvSpPr>
        <p:spPr>
          <a:xfrm>
            <a:off x="475488" y="841248"/>
            <a:ext cx="11247120" cy="365760"/>
          </a:xfrm>
          <a:prstGeom prst="rect">
            <a:avLst/>
          </a:prstGeom>
          <a:noFill/>
          <a:ln/>
        </p:spPr>
        <p:txBody>
          <a:bodyPr wrap="square" lIns="0" tIns="0" rIns="0" bIns="0" rtlCol="0" anchor="t"/>
          <a:lstStyle/>
          <a:p>
            <a:pPr algn="l" indent="0" marL="0">
              <a:buNone/>
            </a:pPr>
            <a:r>
              <a:rPr lang="en-US" sz="1400" b="1" dirty="0">
                <a:solidFill>
                  <a:srgbClr val="AE3EC9"/>
                </a:solidFill>
              </a:rPr>
              <a:t>Karsten Eschamann</a:t>
            </a:r>
            <a:pPr algn="l" indent="0" marL="0">
              <a:buNone/>
            </a:pPr>
            <a:r>
              <a:rPr lang="en-US" sz="1400" dirty="0">
                <a:solidFill>
                  <a:srgbClr val="5F6B7A"/>
                </a:solidFill>
              </a:rPr>
              <a:t> – disziplinarisch an Andreas Obermaier (Head of Legal &amp; Compliance), fachlich an den Ausfuhrverantwortlichen.</a:t>
            </a:r>
            <a:endParaRPr lang="en-US" sz="1400" dirty="0"/>
          </a:p>
        </p:txBody>
      </p:sp>
      <p:sp>
        <p:nvSpPr>
          <p:cNvPr id="4" name="Shape 2"/>
          <p:cNvSpPr/>
          <p:nvPr/>
        </p:nvSpPr>
        <p:spPr>
          <a:xfrm>
            <a:off x="457200" y="1353312"/>
            <a:ext cx="3602736" cy="4839387"/>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5" name="Image 0" descr="Maske Maske Stelle: Director Export Control &amp; Customs (ST-014), Ausschnitt 1">    </p:cNvPr>
          <p:cNvPicPr>
            <a:picLocks noChangeAspect="1"/>
          </p:cNvPicPr>
          <p:nvPr/>
        </p:nvPicPr>
        <p:blipFill>
          <a:blip r:embed="rId1"/>
          <a:stretch>
            <a:fillRect/>
          </a:stretch>
        </p:blipFill>
        <p:spPr>
          <a:xfrm>
            <a:off x="475488" y="1371600"/>
            <a:ext cx="3566160" cy="4802811"/>
          </a:xfrm>
          <a:prstGeom prst="rect">
            <a:avLst/>
          </a:prstGeom>
        </p:spPr>
      </p:pic>
      <p:sp>
        <p:nvSpPr>
          <p:cNvPr id="6" name="Shape 3"/>
          <p:cNvSpPr/>
          <p:nvPr/>
        </p:nvSpPr>
        <p:spPr>
          <a:xfrm>
            <a:off x="4297680" y="1353312"/>
            <a:ext cx="3602736" cy="2787855"/>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7" name="Image 1" descr="Maske Maske Stelle: Director Export Control &amp; Customs (ST-014), Ausschnitt 2">    </p:cNvPr>
          <p:cNvPicPr>
            <a:picLocks noChangeAspect="1"/>
          </p:cNvPicPr>
          <p:nvPr/>
        </p:nvPicPr>
        <p:blipFill>
          <a:blip r:embed="rId2"/>
          <a:stretch>
            <a:fillRect/>
          </a:stretch>
        </p:blipFill>
        <p:spPr>
          <a:xfrm>
            <a:off x="4315968" y="1371600"/>
            <a:ext cx="3566160" cy="2751279"/>
          </a:xfrm>
          <a:prstGeom prst="rect">
            <a:avLst/>
          </a:prstGeom>
        </p:spPr>
      </p:pic>
      <p:sp>
        <p:nvSpPr>
          <p:cNvPr id="8" name="Shape 4"/>
          <p:cNvSpPr/>
          <p:nvPr/>
        </p:nvSpPr>
        <p:spPr>
          <a:xfrm>
            <a:off x="4297680" y="4214319"/>
            <a:ext cx="3602736" cy="1775342"/>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9" name="Image 2" descr="Maske Maske Stelle: Director Export Control &amp; Customs (ST-014), Ausschnitt 2">    </p:cNvPr>
          <p:cNvPicPr>
            <a:picLocks noChangeAspect="1"/>
          </p:cNvPicPr>
          <p:nvPr/>
        </p:nvPicPr>
        <p:blipFill>
          <a:blip r:embed="rId3"/>
          <a:stretch>
            <a:fillRect/>
          </a:stretch>
        </p:blipFill>
        <p:spPr>
          <a:xfrm>
            <a:off x="4315968" y="4232607"/>
            <a:ext cx="3566160" cy="1738766"/>
          </a:xfrm>
          <a:prstGeom prst="rect">
            <a:avLst/>
          </a:prstGeom>
        </p:spPr>
      </p:pic>
      <p:sp>
        <p:nvSpPr>
          <p:cNvPr id="10" name="Shape 5"/>
          <p:cNvSpPr/>
          <p:nvPr/>
        </p:nvSpPr>
        <p:spPr>
          <a:xfrm>
            <a:off x="8138160" y="1353312"/>
            <a:ext cx="3602736" cy="2528100"/>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11" name="Image 3" descr="Maske Maske Stelle: Director Export Control &amp; Customs (ST-014), Ausschnitt 3">    </p:cNvPr>
          <p:cNvPicPr>
            <a:picLocks noChangeAspect="1"/>
          </p:cNvPicPr>
          <p:nvPr/>
        </p:nvPicPr>
        <p:blipFill>
          <a:blip r:embed="rId4"/>
          <a:stretch>
            <a:fillRect/>
          </a:stretch>
        </p:blipFill>
        <p:spPr>
          <a:xfrm>
            <a:off x="8156448" y="1371600"/>
            <a:ext cx="3566160" cy="2491524"/>
          </a:xfrm>
          <a:prstGeom prst="rect">
            <a:avLst/>
          </a:prstGeom>
        </p:spPr>
      </p:pic>
      <p:sp>
        <p:nvSpPr>
          <p:cNvPr id="12" name="Shape 6"/>
          <p:cNvSpPr/>
          <p:nvPr/>
        </p:nvSpPr>
        <p:spPr>
          <a:xfrm>
            <a:off x="8138160" y="3954564"/>
            <a:ext cx="3602736" cy="1563297"/>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13" name="Image 4" descr="Maske Maske Stelle: Director Export Control &amp; Customs (ST-014), Ausschnitt 3">    </p:cNvPr>
          <p:cNvPicPr>
            <a:picLocks noChangeAspect="1"/>
          </p:cNvPicPr>
          <p:nvPr/>
        </p:nvPicPr>
        <p:blipFill>
          <a:blip r:embed="rId5"/>
          <a:stretch>
            <a:fillRect/>
          </a:stretch>
        </p:blipFill>
        <p:spPr>
          <a:xfrm>
            <a:off x="8156448" y="3972852"/>
            <a:ext cx="3566160" cy="1526721"/>
          </a:xfrm>
          <a:prstGeom prst="rect">
            <a:avLst/>
          </a:prstGeom>
        </p:spPr>
      </p:pic>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75488" y="274320"/>
            <a:ext cx="11247120" cy="566928"/>
          </a:xfrm>
          <a:prstGeom prst="rect">
            <a:avLst/>
          </a:prstGeom>
          <a:noFill/>
          <a:ln/>
        </p:spPr>
        <p:txBody>
          <a:bodyPr wrap="square" lIns="0" tIns="0" rIns="0" bIns="0" rtlCol="0" anchor="ctr"/>
          <a:lstStyle/>
          <a:p>
            <a:pPr algn="l" indent="0" marL="0">
              <a:buNone/>
            </a:pPr>
            <a:r>
              <a:rPr lang="en-US" sz="3000" b="1" dirty="0">
                <a:solidFill>
                  <a:schemeClr val="tx2"/>
                </a:solidFill>
              </a:rPr>
              <a:t>Maske Rolle: Kostenstellenverantwortlicher (RO-002)</a:t>
            </a:r>
            <a:endParaRPr lang="en-US" sz="3000" dirty="0"/>
          </a:p>
        </p:txBody>
      </p:sp>
      <p:sp>
        <p:nvSpPr>
          <p:cNvPr id="3" name="Text 0"/>
          <p:cNvSpPr/>
          <p:nvPr>
            <p:ph idx="101" type="body" hasCustomPrompt="1"/>
          </p:nvPr>
        </p:nvSpPr>
        <p:spPr>
          <a:xfrm>
            <a:off x="475488" y="841248"/>
            <a:ext cx="11247120" cy="365760"/>
          </a:xfrm>
          <a:prstGeom prst="rect">
            <a:avLst/>
          </a:prstGeom>
          <a:noFill/>
          <a:ln/>
        </p:spPr>
        <p:txBody>
          <a:bodyPr wrap="square" lIns="0" tIns="0" rIns="0" bIns="0" rtlCol="0" anchor="t"/>
          <a:lstStyle/>
          <a:p>
            <a:pPr algn="l" indent="0" marL="0">
              <a:buNone/>
            </a:pPr>
            <a:r>
              <a:rPr lang="en-US" sz="1400" b="1" dirty="0">
                <a:solidFill>
                  <a:srgbClr val="7048E8"/>
                </a:solidFill>
              </a:rPr>
              <a:t>Role Owner Torsten Blaschke</a:t>
            </a:r>
            <a:pPr algn="l" indent="0" marL="0">
              <a:buNone/>
            </a:pPr>
            <a:r>
              <a:rPr lang="en-US" sz="1400" dirty="0">
                <a:solidFill>
                  <a:srgbClr val="5F6B7A"/>
                </a:solidFill>
              </a:rPr>
              <a:t> (Controlling) pflegt die Rolle – ausgeübt wird sie über die Stellen, u. a. von Karsten Eschamann.</a:t>
            </a:r>
            <a:endParaRPr lang="en-US" sz="1400" dirty="0"/>
          </a:p>
        </p:txBody>
      </p:sp>
      <p:sp>
        <p:nvSpPr>
          <p:cNvPr id="4" name="Shape 2"/>
          <p:cNvSpPr/>
          <p:nvPr/>
        </p:nvSpPr>
        <p:spPr>
          <a:xfrm>
            <a:off x="457200" y="1353312"/>
            <a:ext cx="3602736" cy="4627342"/>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5" name="Image 0" descr="Maske Maske Rolle: Kostenstellenverantwortlicher (RO-002), Ausschnitt 1">    </p:cNvPr>
          <p:cNvPicPr>
            <a:picLocks noChangeAspect="1"/>
          </p:cNvPicPr>
          <p:nvPr/>
        </p:nvPicPr>
        <p:blipFill>
          <a:blip r:embed="rId1"/>
          <a:stretch>
            <a:fillRect/>
          </a:stretch>
        </p:blipFill>
        <p:spPr>
          <a:xfrm>
            <a:off x="475488" y="1371600"/>
            <a:ext cx="3566160" cy="4590766"/>
          </a:xfrm>
          <a:prstGeom prst="rect">
            <a:avLst/>
          </a:prstGeom>
        </p:spPr>
      </p:pic>
      <p:sp>
        <p:nvSpPr>
          <p:cNvPr id="6" name="Shape 3"/>
          <p:cNvSpPr/>
          <p:nvPr/>
        </p:nvSpPr>
        <p:spPr>
          <a:xfrm>
            <a:off x="4297680" y="1353312"/>
            <a:ext cx="3602736" cy="4372889"/>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7" name="Image 1" descr="Maske Maske Rolle: Kostenstellenverantwortlicher (RO-002), Ausschnitt 2">    </p:cNvPr>
          <p:cNvPicPr>
            <a:picLocks noChangeAspect="1"/>
          </p:cNvPicPr>
          <p:nvPr/>
        </p:nvPicPr>
        <p:blipFill>
          <a:blip r:embed="rId2"/>
          <a:stretch>
            <a:fillRect/>
          </a:stretch>
        </p:blipFill>
        <p:spPr>
          <a:xfrm>
            <a:off x="4315968" y="1371600"/>
            <a:ext cx="3566160" cy="4336313"/>
          </a:xfrm>
          <a:prstGeom prst="rect">
            <a:avLst/>
          </a:prstGeom>
        </p:spPr>
      </p:pic>
      <p:sp>
        <p:nvSpPr>
          <p:cNvPr id="8" name="Shape 4"/>
          <p:cNvSpPr/>
          <p:nvPr/>
        </p:nvSpPr>
        <p:spPr>
          <a:xfrm>
            <a:off x="8138160" y="1353312"/>
            <a:ext cx="3602736" cy="2157022"/>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9" name="Image 2" descr="Maske Maske Rolle: Kostenstellenverantwortlicher (RO-002), Ausschnitt 3">    </p:cNvPr>
          <p:cNvPicPr>
            <a:picLocks noChangeAspect="1"/>
          </p:cNvPicPr>
          <p:nvPr/>
        </p:nvPicPr>
        <p:blipFill>
          <a:blip r:embed="rId3"/>
          <a:stretch>
            <a:fillRect/>
          </a:stretch>
        </p:blipFill>
        <p:spPr>
          <a:xfrm>
            <a:off x="8156448" y="1371600"/>
            <a:ext cx="3566160" cy="2120446"/>
          </a:xfrm>
          <a:prstGeom prst="rect">
            <a:avLst/>
          </a:prstGeom>
        </p:spPr>
      </p:pic>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75488" y="274320"/>
            <a:ext cx="11247120" cy="566928"/>
          </a:xfrm>
          <a:prstGeom prst="rect">
            <a:avLst/>
          </a:prstGeom>
          <a:noFill/>
          <a:ln/>
        </p:spPr>
        <p:txBody>
          <a:bodyPr wrap="square" lIns="0" tIns="0" rIns="0" bIns="0" rtlCol="0" anchor="ctr"/>
          <a:lstStyle/>
          <a:p>
            <a:pPr algn="l" indent="0" marL="0">
              <a:buNone/>
            </a:pPr>
            <a:r>
              <a:rPr lang="en-US" sz="3000" b="1" dirty="0">
                <a:solidFill>
                  <a:schemeClr val="tx2"/>
                </a:solidFill>
              </a:rPr>
              <a:t>Maske Übertragung: Trade Compliance Beauftragter (DV-014)</a:t>
            </a:r>
            <a:endParaRPr lang="en-US" sz="3000" dirty="0"/>
          </a:p>
        </p:txBody>
      </p:sp>
      <p:sp>
        <p:nvSpPr>
          <p:cNvPr id="3" name="Text 0"/>
          <p:cNvSpPr/>
          <p:nvPr>
            <p:ph idx="101" type="body" hasCustomPrompt="1"/>
          </p:nvPr>
        </p:nvSpPr>
        <p:spPr>
          <a:xfrm>
            <a:off x="475488" y="841248"/>
            <a:ext cx="11247120" cy="365760"/>
          </a:xfrm>
          <a:prstGeom prst="rect">
            <a:avLst/>
          </a:prstGeom>
          <a:noFill/>
          <a:ln/>
        </p:spPr>
        <p:txBody>
          <a:bodyPr wrap="square" lIns="0" tIns="0" rIns="0" bIns="0" rtlCol="0" anchor="t"/>
          <a:lstStyle/>
          <a:p>
            <a:pPr algn="l" indent="0" marL="0">
              <a:buNone/>
            </a:pPr>
            <a:r>
              <a:rPr lang="en-US" sz="1400" b="1" dirty="0">
                <a:solidFill>
                  <a:srgbClr val="C2255C"/>
                </a:solidFill>
              </a:rPr>
              <a:t>Wirksam</a:t>
            </a:r>
            <a:pPr algn="l" indent="0" marL="0">
              <a:buNone/>
            </a:pPr>
            <a:r>
              <a:rPr lang="en-US" sz="1400" dirty="0">
                <a:solidFill>
                  <a:srgbClr val="5F6B7A"/>
                </a:solidFill>
              </a:rPr>
              <a:t> – beauftragt durch Konrad Garhammer (GF / Ausfuhrverantwortlicher), angenommen von Karsten Eschamann.</a:t>
            </a:r>
            <a:endParaRPr lang="en-US" sz="1400" dirty="0"/>
          </a:p>
        </p:txBody>
      </p:sp>
      <p:sp>
        <p:nvSpPr>
          <p:cNvPr id="4" name="Shape 2"/>
          <p:cNvSpPr/>
          <p:nvPr/>
        </p:nvSpPr>
        <p:spPr>
          <a:xfrm>
            <a:off x="457200" y="1353312"/>
            <a:ext cx="3602736" cy="3747357"/>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5" name="Image 0" descr="Maske Maske Übertragung: Trade Compliance Beauftragter (DV-014), Ausschnitt 1">    </p:cNvPr>
          <p:cNvPicPr>
            <a:picLocks noChangeAspect="1"/>
          </p:cNvPicPr>
          <p:nvPr/>
        </p:nvPicPr>
        <p:blipFill>
          <a:blip r:embed="rId1"/>
          <a:stretch>
            <a:fillRect/>
          </a:stretch>
        </p:blipFill>
        <p:spPr>
          <a:xfrm>
            <a:off x="475488" y="1371600"/>
            <a:ext cx="3566160" cy="3710781"/>
          </a:xfrm>
          <a:prstGeom prst="rect">
            <a:avLst/>
          </a:prstGeom>
        </p:spPr>
      </p:pic>
      <p:sp>
        <p:nvSpPr>
          <p:cNvPr id="6" name="Shape 3"/>
          <p:cNvSpPr/>
          <p:nvPr/>
        </p:nvSpPr>
        <p:spPr>
          <a:xfrm>
            <a:off x="4297680" y="1353312"/>
            <a:ext cx="3602736" cy="3180138"/>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7" name="Image 1" descr="Maske Maske Übertragung: Trade Compliance Beauftragter (DV-014), Ausschnitt 2">    </p:cNvPr>
          <p:cNvPicPr>
            <a:picLocks noChangeAspect="1"/>
          </p:cNvPicPr>
          <p:nvPr/>
        </p:nvPicPr>
        <p:blipFill>
          <a:blip r:embed="rId2"/>
          <a:stretch>
            <a:fillRect/>
          </a:stretch>
        </p:blipFill>
        <p:spPr>
          <a:xfrm>
            <a:off x="4315968" y="1371600"/>
            <a:ext cx="3566160" cy="3143562"/>
          </a:xfrm>
          <a:prstGeom prst="rect">
            <a:avLst/>
          </a:prstGeom>
        </p:spPr>
      </p:pic>
      <p:sp>
        <p:nvSpPr>
          <p:cNvPr id="8" name="Shape 4"/>
          <p:cNvSpPr/>
          <p:nvPr/>
        </p:nvSpPr>
        <p:spPr>
          <a:xfrm>
            <a:off x="8138160" y="1353312"/>
            <a:ext cx="3602736" cy="1377758"/>
          </a:xfrm>
          <a:prstGeom prst="rect">
            <a:avLst/>
          </a:prstGeom>
          <a:solidFill>
            <a:srgbClr val="FFFFFF"/>
          </a:solidFill>
          <a:ln w="9525">
            <a:solidFill>
              <a:srgbClr val="D5DBE3"/>
            </a:solidFill>
            <a:prstDash val="solid"/>
          </a:ln>
          <a:effectLst>
            <a:outerShdw sx="100000" sy="100000" kx="0" ky="0" algn="bl" rotWithShape="0" blurRad="50800" dist="19050" dir="5400000">
              <a:srgbClr val="000000">
                <a:alpha val="12000"/>
              </a:srgbClr>
            </a:outerShdw>
          </a:effectLst>
        </p:spPr>
      </p:sp>
      <p:pic>
        <p:nvPicPr>
          <p:cNvPr id="9" name="Image 2" descr="Maske Maske Übertragung: Trade Compliance Beauftragter (DV-014), Ausschnitt 3">    </p:cNvPr>
          <p:cNvPicPr>
            <a:picLocks noChangeAspect="1"/>
          </p:cNvPicPr>
          <p:nvPr/>
        </p:nvPicPr>
        <p:blipFill>
          <a:blip r:embed="rId3"/>
          <a:stretch>
            <a:fillRect/>
          </a:stretch>
        </p:blipFill>
        <p:spPr>
          <a:xfrm>
            <a:off x="8156448" y="1371600"/>
            <a:ext cx="3566160" cy="1341182"/>
          </a:xfrm>
          <a:prstGeom prst="rect">
            <a:avLst/>
          </a:prstGeom>
        </p:spPr>
      </p:pic>
      <p:sp>
        <p:nvSpPr>
          <p:cNvPr id="10" name="Shape 5"/>
          <p:cNvSpPr/>
          <p:nvPr/>
        </p:nvSpPr>
        <p:spPr>
          <a:xfrm>
            <a:off x="8156448" y="3005390"/>
            <a:ext cx="3566160" cy="2103120"/>
          </a:xfrm>
          <a:prstGeom prst="roundRect">
            <a:avLst>
              <a:gd name="adj" fmla="val 4348"/>
            </a:avLst>
          </a:prstGeom>
          <a:solidFill>
            <a:srgbClr val="FCEEF3"/>
          </a:solidFill>
          <a:ln w="12700">
            <a:solidFill>
              <a:srgbClr val="C2255C"/>
            </a:solidFill>
            <a:prstDash val="solid"/>
          </a:ln>
        </p:spPr>
      </p:sp>
      <p:sp>
        <p:nvSpPr>
          <p:cNvPr id="11" name="Text 6"/>
          <p:cNvSpPr txBox="1"/>
          <p:nvPr/>
        </p:nvSpPr>
        <p:spPr>
          <a:xfrm>
            <a:off x="8293608" y="3115118"/>
            <a:ext cx="3291840" cy="1883664"/>
          </a:xfrm>
          <a:prstGeom prst="rect">
            <a:avLst/>
          </a:prstGeom>
          <a:noFill/>
          <a:ln/>
        </p:spPr>
        <p:txBody>
          <a:bodyPr wrap="square" lIns="635" tIns="635" rIns="635" bIns="635" rtlCol="0" anchor="t"/>
          <a:lstStyle/>
          <a:p>
            <a:pPr indent="0" marL="0">
              <a:spcAft>
                <a:spcPts val="600"/>
              </a:spcAft>
              <a:buNone/>
            </a:pPr>
            <a:r>
              <a:rPr lang="en-US" sz="1600" b="1" dirty="0">
                <a:solidFill>
                  <a:srgbClr val="C2255C"/>
                </a:solidFill>
              </a:rPr>
              <a:t>Darauf kommt es an</a:t>
            </a:r>
            <a:endParaRPr lang="en-US" sz="1600" dirty="0"/>
          </a:p>
          <a:p>
            <a:pPr marL="342900" indent="-342900">
              <a:spcAft>
                <a:spcPts val="600"/>
              </a:spcAft>
              <a:buSzPct val="100000"/>
              <a:buChar char="•"/>
            </a:pPr>
            <a:r>
              <a:rPr lang="en-US" sz="1400" dirty="0">
                <a:solidFill>
                  <a:srgbClr val="1F2933"/>
                </a:solidFill>
              </a:rPr>
              <a:t>Ausfuhrverantwortlicher bleibt persönlich verantwortlich</a:t>
            </a:r>
            <a:endParaRPr lang="en-US" sz="1600" dirty="0"/>
          </a:p>
          <a:p>
            <a:pPr marL="342900" indent="-342900">
              <a:spcAft>
                <a:spcPts val="600"/>
              </a:spcAft>
              <a:buSzPct val="100000"/>
              <a:buChar char="•"/>
            </a:pPr>
            <a:r>
              <a:rPr lang="en-US" sz="1400" dirty="0">
                <a:solidFill>
                  <a:srgbClr val="1F2933"/>
                </a:solidFill>
              </a:rPr>
              <a:t>Klarer Umfang mit Lieferstopp-Befugnis und Budget</a:t>
            </a:r>
            <a:endParaRPr lang="en-US" sz="1600" dirty="0"/>
          </a:p>
          <a:p>
            <a:pPr marL="342900" indent="-342900">
              <a:spcAft>
                <a:spcPts val="600"/>
              </a:spcAft>
              <a:buSzPct val="100000"/>
              <a:buChar char="•"/>
            </a:pPr>
            <a:r>
              <a:rPr lang="en-US" sz="1400" dirty="0">
                <a:solidFill>
                  <a:srgbClr val="1F2933"/>
                </a:solidFill>
              </a:rPr>
              <a:t>Wirksam erst mit Annahme; Überwachung quartalsweise</a:t>
            </a:r>
            <a:endParaRPr lang="en-US" sz="16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GRC Studio">
  <a:themeElements>
    <a:clrScheme name="GRC Studio">
      <a:dk1>
        <a:srgbClr val="1F2933"/>
      </a:dk1>
      <a:lt1>
        <a:srgbClr val="FFFFFF"/>
      </a:lt1>
      <a:dk2>
        <a:srgbClr val="1B2A41"/>
      </a:dk2>
      <a:lt2>
        <a:srgbClr val="F3F5F8"/>
      </a:lt2>
      <a:accent1>
        <a:srgbClr val="495057"/>
      </a:accent1>
      <a:accent2>
        <a:srgbClr val="AE3EC9"/>
      </a:accent2>
      <a:accent3>
        <a:srgbClr val="7048E8"/>
      </a:accent3>
      <a:accent4>
        <a:srgbClr val="C2255C"/>
      </a:accent4>
      <a:accent5>
        <a:srgbClr val="0C8599"/>
      </a:accent5>
      <a:accent6>
        <a:srgbClr val="E8590C"/>
      </a:accent6>
      <a:hlink>
        <a:srgbClr val="1971C2"/>
      </a:hlink>
      <a:folHlink>
        <a:srgbClr val="7048E8"/>
      </a:folHlink>
    </a:clrScheme>
    <a:fontScheme name="GRC Studi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GRC Studio – Organisationsmodell</dc:title>
  <dc:subject>PptxGenJS Presentation</dc:subject>
  <dc:creator>PptxGenJS</dc:creator>
  <cp:lastModifiedBy>PptxGenJS</cp:lastModifiedBy>
  <cp:revision>1</cp:revision>
  <dcterms:created xsi:type="dcterms:W3CDTF">2026-10-30T08:35:42Z</dcterms:created>
  <dcterms:modified xsi:type="dcterms:W3CDTF">2026-10-30T08:35:42Z</dcterms:modified>
</cp:coreProperties>
</file>